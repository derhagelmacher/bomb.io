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851" autoAdjust="0"/>
  </p:normalViewPr>
  <p:slideViewPr>
    <p:cSldViewPr snapToGrid="0" snapToObjects="1">
      <p:cViewPr varScale="1">
        <p:scale>
          <a:sx n="75" d="100"/>
          <a:sy n="75" d="100"/>
        </p:scale>
        <p:origin x="1272" y="27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463843-5A3D-4F72-AC58-724F1943D327}" type="datetimeFigureOut">
              <a:rPr lang="de-CH" smtClean="0"/>
              <a:t>18.12.2025</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88AF4E-C476-45AD-AFE8-30D2E52C9F00}" type="slidenum">
              <a:rPr lang="de-CH" smtClean="0"/>
              <a:t>‹Nr.›</a:t>
            </a:fld>
            <a:endParaRPr lang="de-CH"/>
          </a:p>
        </p:txBody>
      </p:sp>
    </p:spTree>
    <p:extLst>
      <p:ext uri="{BB962C8B-B14F-4D97-AF65-F5344CB8AC3E}">
        <p14:creationId xmlns:p14="http://schemas.microsoft.com/office/powerpoint/2010/main" val="2096703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err="1"/>
              <a:t>nicolas</a:t>
            </a:r>
            <a:endParaRPr lang="de-CH" dirty="0"/>
          </a:p>
        </p:txBody>
      </p:sp>
      <p:sp>
        <p:nvSpPr>
          <p:cNvPr id="4" name="Foliennummernplatzhalter 3"/>
          <p:cNvSpPr>
            <a:spLocks noGrp="1"/>
          </p:cNvSpPr>
          <p:nvPr>
            <p:ph type="sldNum" sz="quarter" idx="5"/>
          </p:nvPr>
        </p:nvSpPr>
        <p:spPr/>
        <p:txBody>
          <a:bodyPr/>
          <a:lstStyle/>
          <a:p>
            <a:fld id="{1788AF4E-C476-45AD-AFE8-30D2E52C9F00}" type="slidenum">
              <a:rPr lang="de-CH" smtClean="0"/>
              <a:t>2</a:t>
            </a:fld>
            <a:endParaRPr lang="de-CH"/>
          </a:p>
        </p:txBody>
      </p:sp>
    </p:spTree>
    <p:extLst>
      <p:ext uri="{BB962C8B-B14F-4D97-AF65-F5344CB8AC3E}">
        <p14:creationId xmlns:p14="http://schemas.microsoft.com/office/powerpoint/2010/main" val="790667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Nicolas:</a:t>
            </a:r>
            <a:r>
              <a:rPr lang="de-DE" dirty="0"/>
              <a:t>Zuerst das </a:t>
            </a:r>
            <a:r>
              <a:rPr lang="de-DE" b="1" dirty="0"/>
              <a:t>Client–Server-Modell</a:t>
            </a:r>
            <a:r>
              <a:rPr lang="de-DE" dirty="0"/>
              <a:t>. Im Internet arbeiten fast alle Anwendungen nach diesem Prinzip. Ein Client ist zum Beispiel ein Webbrowser auf einem Computer oder Smartphone. Der Client stellt Anfragen. Der Server ist ein leistungsfähiger Rechner, der diese Anfragen entgegennimmt, verarbeitet und eine Antwort zurückschickt.</a:t>
            </a:r>
            <a:br>
              <a:rPr lang="de-DE" dirty="0"/>
            </a:br>
            <a:r>
              <a:rPr lang="de-DE" dirty="0"/>
              <a:t>Wichtig ist: Der Client wartet nicht einfach passiv, sondern initiiert jede Kommunikation selbst.</a:t>
            </a:r>
          </a:p>
          <a:p>
            <a:r>
              <a:rPr lang="de-DE" dirty="0"/>
              <a:t>Diese Kommunikation passiert über </a:t>
            </a:r>
            <a:r>
              <a:rPr lang="de-DE" b="1" dirty="0"/>
              <a:t>Netzwerke</a:t>
            </a:r>
            <a:r>
              <a:rPr lang="de-DE" dirty="0"/>
              <a:t>. Ein Netzwerk verbindet mehrere Geräte miteinander, damit sie Daten austauschen können. Das kann ein lokales Netzwerk sein, zum Beispiel in der Schule oder zu Hause, oder das globale Netzwerk, also das Internet. Die Daten werden dabei in kleine Pakete aufgeteilt und über verschiedene Wege übertragen.</a:t>
            </a:r>
          </a:p>
          <a:p>
            <a:r>
              <a:rPr lang="de-DE" dirty="0"/>
              <a:t>Damit diese Pakete ihr Ziel finden, braucht jedes Gerät eine </a:t>
            </a:r>
            <a:r>
              <a:rPr lang="de-DE" b="1" dirty="0"/>
              <a:t>IP-Adresse</a:t>
            </a:r>
            <a:r>
              <a:rPr lang="de-DE" dirty="0"/>
              <a:t>. Man kann sich eine IP-Adresse wie eine Postadresse vorstellen. Sie sagt dem Netzwerk, wohin die Daten geschickt werden müssen.</a:t>
            </a:r>
            <a:br>
              <a:rPr lang="de-DE" dirty="0"/>
            </a:br>
            <a:r>
              <a:rPr lang="de-DE" dirty="0"/>
              <a:t>Allein mit der IP-Adresse </a:t>
            </a:r>
            <a:r>
              <a:rPr lang="de-DE" dirty="0" err="1"/>
              <a:t>weiss</a:t>
            </a:r>
            <a:r>
              <a:rPr lang="de-DE" dirty="0"/>
              <a:t> man aber noch nicht, welcher Dienst angesprochen wird.</a:t>
            </a:r>
          </a:p>
          <a:p>
            <a:r>
              <a:rPr lang="de-DE" dirty="0"/>
              <a:t>Dafür gibt es </a:t>
            </a:r>
            <a:r>
              <a:rPr lang="de-DE" b="1" dirty="0"/>
              <a:t>Ports</a:t>
            </a:r>
            <a:r>
              <a:rPr lang="de-DE" dirty="0"/>
              <a:t>. Ports sind nummerierte Zugänge auf einem Gerät. Jeder Dienst nutzt in der Regel einen bestimmten Port. So kann ein Server gleichzeitig mehrere Dienste anbieten, ohne dass sie sich gegenseitig stören.</a:t>
            </a:r>
          </a:p>
          <a:p>
            <a:r>
              <a:rPr lang="de-DE" dirty="0"/>
              <a:t>Für das Web sind vor allem zwei Ports typisch. </a:t>
            </a:r>
            <a:r>
              <a:rPr lang="de-DE" b="1" dirty="0"/>
              <a:t>Port 80</a:t>
            </a:r>
            <a:r>
              <a:rPr lang="de-DE" dirty="0"/>
              <a:t> wird für HTTP verwendet, also für unverschlüsselte Webverbindungen. </a:t>
            </a:r>
            <a:r>
              <a:rPr lang="de-DE" b="1" dirty="0"/>
              <a:t>Port 443</a:t>
            </a:r>
            <a:r>
              <a:rPr lang="de-DE" dirty="0"/>
              <a:t> wird für HTTPS genutzt, also für verschlüsselte und sichere Verbindungen.</a:t>
            </a:r>
            <a:br>
              <a:rPr lang="de-DE" dirty="0"/>
            </a:br>
            <a:r>
              <a:rPr lang="de-DE" dirty="0"/>
              <a:t>Der Unterschied zwischen diesen beiden Ports ist entscheidend für die Sicherheit der übertragenen Daten und bildet die Grundlage für alles, was wir später zu SSL und TLS erklären.</a:t>
            </a:r>
          </a:p>
          <a:p>
            <a:endParaRPr lang="de-CH" dirty="0"/>
          </a:p>
        </p:txBody>
      </p:sp>
      <p:sp>
        <p:nvSpPr>
          <p:cNvPr id="4" name="Foliennummernplatzhalter 3"/>
          <p:cNvSpPr>
            <a:spLocks noGrp="1"/>
          </p:cNvSpPr>
          <p:nvPr>
            <p:ph type="sldNum" sz="quarter" idx="5"/>
          </p:nvPr>
        </p:nvSpPr>
        <p:spPr/>
        <p:txBody>
          <a:bodyPr/>
          <a:lstStyle/>
          <a:p>
            <a:fld id="{1788AF4E-C476-45AD-AFE8-30D2E52C9F00}" type="slidenum">
              <a:rPr lang="de-CH" smtClean="0"/>
              <a:t>3</a:t>
            </a:fld>
            <a:endParaRPr lang="de-CH"/>
          </a:p>
        </p:txBody>
      </p:sp>
    </p:spTree>
    <p:extLst>
      <p:ext uri="{BB962C8B-B14F-4D97-AF65-F5344CB8AC3E}">
        <p14:creationId xmlns:p14="http://schemas.microsoft.com/office/powerpoint/2010/main" val="34548384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Mario:</a:t>
            </a:r>
            <a:r>
              <a:rPr lang="de-DE" dirty="0"/>
              <a:t>Beginnen wir mit </a:t>
            </a:r>
            <a:r>
              <a:rPr lang="de-DE" b="1" dirty="0"/>
              <a:t>HTTP</a:t>
            </a:r>
            <a:r>
              <a:rPr lang="de-DE" dirty="0"/>
              <a:t>. HTTP steht für </a:t>
            </a:r>
            <a:r>
              <a:rPr lang="de-DE" i="1" dirty="0"/>
              <a:t>Hypertext Transfer Protocol</a:t>
            </a:r>
            <a:r>
              <a:rPr lang="de-DE" dirty="0"/>
              <a:t> und ist das ursprüngliche Protokoll für Webseiten. Bei HTTP werden die Daten </a:t>
            </a:r>
            <a:r>
              <a:rPr lang="de-DE" b="1" dirty="0"/>
              <a:t>im Klartext</a:t>
            </a:r>
            <a:r>
              <a:rPr lang="de-DE" dirty="0"/>
              <a:t> übertragen. Das bedeutet, dass die Inhalte einer Webseite, aber auch Formulardaten oder Anmeldedaten, unverschlüsselt über das Netzwerk gesendet werden.</a:t>
            </a:r>
          </a:p>
          <a:p>
            <a:r>
              <a:rPr lang="de-DE" dirty="0"/>
              <a:t>„Im Klartext“ </a:t>
            </a:r>
            <a:r>
              <a:rPr lang="de-DE" dirty="0" err="1"/>
              <a:t>heisst</a:t>
            </a:r>
            <a:r>
              <a:rPr lang="de-DE" dirty="0"/>
              <a:t> konkret: Jeder, der den Netzwerkverkehr mitlesen kann, sieht genau, was übertragen wird. Das kann zum Beispiel in einem offenen WLAN passieren, etwa in der Schule, im Zug oder in einem Café. Dort ist es technisch möglich, den Datenverkehr anderer Nutzer mitzuschneiden.</a:t>
            </a:r>
          </a:p>
          <a:p>
            <a:r>
              <a:rPr lang="de-DE" dirty="0"/>
              <a:t>Dadurch sind HTTP-Verbindungen </a:t>
            </a:r>
            <a:r>
              <a:rPr lang="de-DE" b="1" dirty="0"/>
              <a:t>leicht mitzulesen</a:t>
            </a:r>
            <a:r>
              <a:rPr lang="de-DE" dirty="0"/>
              <a:t>. Ein Angreifer könnte Passwörter abfangen, Inhalte verändern oder Sitzungsdaten stehlen. Aus diesem Grund gilt HTTP heute als unsicher und wird für moderne Webseiten kaum noch empfohlen.</a:t>
            </a:r>
          </a:p>
          <a:p>
            <a:r>
              <a:rPr lang="de-DE" b="1" dirty="0"/>
              <a:t>HTTPS</a:t>
            </a:r>
            <a:r>
              <a:rPr lang="de-DE" dirty="0"/>
              <a:t> ist die sichere Weiterentwicklung von HTTP. Technisch gesehen ist HTTPS kein eigenes neues Protokoll, sondern HTTP, das zusätzlich mit einer Sicherheitsschicht kombiniert wird.</a:t>
            </a:r>
          </a:p>
          <a:p>
            <a:r>
              <a:rPr lang="de-DE" dirty="0"/>
              <a:t>Diese Sicherheitsschicht sorgt für eine </a:t>
            </a:r>
            <a:r>
              <a:rPr lang="de-DE" b="1" dirty="0"/>
              <a:t>verschlüsselte Verbindung</a:t>
            </a:r>
            <a:r>
              <a:rPr lang="de-DE" dirty="0"/>
              <a:t> zwischen Client und Server. Das bedeutet, dass die übertragenen Daten für Dritte nicht mehr lesbar sind, selbst wenn sie den Netzwerkverkehr abfangen.</a:t>
            </a:r>
          </a:p>
          <a:p>
            <a:r>
              <a:rPr lang="de-DE" dirty="0"/>
              <a:t>HTTPS nutzt dafür </a:t>
            </a:r>
            <a:r>
              <a:rPr lang="de-DE" b="1" dirty="0"/>
              <a:t>TLS</a:t>
            </a:r>
            <a:r>
              <a:rPr lang="de-DE" dirty="0"/>
              <a:t>, also Transport Layer Security. TLS kümmert sich um den sicheren Aufbau der Verbindung, die Verschlüsselung der Daten und die Überprüfung des Servers.</a:t>
            </a:r>
          </a:p>
          <a:p>
            <a:r>
              <a:rPr lang="de-DE" dirty="0"/>
              <a:t>Durch HTTPS werden die </a:t>
            </a:r>
            <a:r>
              <a:rPr lang="de-DE" b="1" dirty="0"/>
              <a:t>übertragenen Daten geschützt</a:t>
            </a:r>
            <a:r>
              <a:rPr lang="de-DE" dirty="0"/>
              <a:t>. Dazu gehören Passwörter, Formulare, Cookies und alle Inhalte der Webseite. Zusätzlich stellt HTTPS sicher, dass die Daten unterwegs nicht verändert werden.</a:t>
            </a:r>
          </a:p>
          <a:p>
            <a:r>
              <a:rPr lang="de-DE" dirty="0"/>
              <a:t>Zusammengefasst kann man sagen: HTTP ist unverschlüsselt und unsicher, während HTTPS durch TLS eine sichere, verschlüsselte Datenübertragung ermöglicht und deshalb heute der Standard im Web ist.</a:t>
            </a:r>
          </a:p>
          <a:p>
            <a:endParaRPr lang="de-CH" dirty="0"/>
          </a:p>
        </p:txBody>
      </p:sp>
      <p:sp>
        <p:nvSpPr>
          <p:cNvPr id="4" name="Foliennummernplatzhalter 3"/>
          <p:cNvSpPr>
            <a:spLocks noGrp="1"/>
          </p:cNvSpPr>
          <p:nvPr>
            <p:ph type="sldNum" sz="quarter" idx="5"/>
          </p:nvPr>
        </p:nvSpPr>
        <p:spPr/>
        <p:txBody>
          <a:bodyPr/>
          <a:lstStyle/>
          <a:p>
            <a:fld id="{1788AF4E-C476-45AD-AFE8-30D2E52C9F00}" type="slidenum">
              <a:rPr lang="de-CH" smtClean="0"/>
              <a:t>4</a:t>
            </a:fld>
            <a:endParaRPr lang="de-CH"/>
          </a:p>
        </p:txBody>
      </p:sp>
    </p:spTree>
    <p:extLst>
      <p:ext uri="{BB962C8B-B14F-4D97-AF65-F5344CB8AC3E}">
        <p14:creationId xmlns:p14="http://schemas.microsoft.com/office/powerpoint/2010/main" val="30704613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err="1"/>
              <a:t>loic</a:t>
            </a:r>
            <a:r>
              <a:rPr lang="de-CH" dirty="0"/>
              <a:t>:</a:t>
            </a:r>
            <a:r>
              <a:rPr lang="de-DE" dirty="0"/>
              <a:t>Zuerst zu </a:t>
            </a:r>
            <a:r>
              <a:rPr lang="de-DE" b="1" dirty="0"/>
              <a:t>SSL</a:t>
            </a:r>
            <a:r>
              <a:rPr lang="de-DE" dirty="0"/>
              <a:t>. SSL steht für </a:t>
            </a:r>
            <a:r>
              <a:rPr lang="de-DE" i="1" dirty="0"/>
              <a:t>Secure Sockets Layer</a:t>
            </a:r>
            <a:r>
              <a:rPr lang="de-DE" dirty="0"/>
              <a:t>. Das war die ursprüngliche Technologie, um Verbindungen im Internet zu verschlüsseln. SSL wird heute aber </a:t>
            </a:r>
            <a:r>
              <a:rPr lang="de-DE" b="1" dirty="0"/>
              <a:t>nicht mehr verwendet</a:t>
            </a:r>
            <a:r>
              <a:rPr lang="de-DE" dirty="0"/>
              <a:t>, weil es als unsicher gilt. Der Begriff taucht trotzdem noch oft auf, weil er sich über die Jahre eingebürgert hat.</a:t>
            </a:r>
          </a:p>
          <a:p>
            <a:r>
              <a:rPr lang="de-DE" dirty="0"/>
              <a:t>Der aktuelle und sichere Standard </a:t>
            </a:r>
            <a:r>
              <a:rPr lang="de-DE" dirty="0" err="1"/>
              <a:t>heisst</a:t>
            </a:r>
            <a:r>
              <a:rPr lang="de-DE" dirty="0"/>
              <a:t> </a:t>
            </a:r>
            <a:r>
              <a:rPr lang="de-DE" b="1" dirty="0"/>
              <a:t>TLS</a:t>
            </a:r>
            <a:r>
              <a:rPr lang="de-DE" dirty="0"/>
              <a:t>, also </a:t>
            </a:r>
            <a:r>
              <a:rPr lang="de-DE" i="1" dirty="0"/>
              <a:t>Transport Layer Security</a:t>
            </a:r>
            <a:r>
              <a:rPr lang="de-DE" dirty="0"/>
              <a:t>. TLS ist die Weiterentwicklung von SSL und wird heute für praktisch alle sicheren Internetverbindungen eingesetzt.</a:t>
            </a:r>
          </a:p>
          <a:p>
            <a:r>
              <a:rPr lang="de-DE" dirty="0"/>
              <a:t>Wenn man sagt, eine Webseite ist „mit SSL gesichert“, meint man technisch fast immer </a:t>
            </a:r>
            <a:r>
              <a:rPr lang="de-DE" b="1" dirty="0"/>
              <a:t>TLS</a:t>
            </a:r>
            <a:r>
              <a:rPr lang="de-DE" dirty="0"/>
              <a:t>. Browser, Server und moderne Anwendungen unterstützen </a:t>
            </a:r>
            <a:r>
              <a:rPr lang="de-DE" dirty="0" err="1"/>
              <a:t>ausschliesslich</a:t>
            </a:r>
            <a:r>
              <a:rPr lang="de-DE" dirty="0"/>
              <a:t> TLS und nicht mehr das alte SSL.</a:t>
            </a:r>
          </a:p>
          <a:p>
            <a:r>
              <a:rPr lang="de-DE" dirty="0"/>
              <a:t>TLS ist heute der </a:t>
            </a:r>
            <a:r>
              <a:rPr lang="de-DE" b="1" dirty="0"/>
              <a:t>Standard für sichere Webverbindungen</a:t>
            </a:r>
            <a:r>
              <a:rPr lang="de-DE" dirty="0"/>
              <a:t>. Immer wenn wir eine Webseite mit HTTPS aufrufen, wird im Hintergrund eine TLS-Verbindung aufgebaut. Ohne TLS gäbe es keine sichere Datenübertragung im Web.</a:t>
            </a:r>
          </a:p>
          <a:p>
            <a:r>
              <a:rPr lang="de-DE" dirty="0"/>
              <a:t>TLS kombiniert zwei wichtige Sicherheitsmechanismen. Der erste ist die </a:t>
            </a:r>
            <a:r>
              <a:rPr lang="de-DE" b="1" dirty="0"/>
              <a:t>Verschlüsselung</a:t>
            </a:r>
            <a:r>
              <a:rPr lang="de-DE" dirty="0"/>
              <a:t>. Sie sorgt dafür, dass Daten während der Übertragung nicht von Dritten gelesen werden können. Selbst wenn jemand den Netzwerkverkehr abfängt, sieht er nur unverständliche Zeichen.</a:t>
            </a:r>
          </a:p>
          <a:p>
            <a:r>
              <a:rPr lang="de-DE" dirty="0"/>
              <a:t>Der zweite Mechanismus ist die </a:t>
            </a:r>
            <a:r>
              <a:rPr lang="de-DE" b="1" dirty="0"/>
              <a:t>Authentifizierung</a:t>
            </a:r>
            <a:r>
              <a:rPr lang="de-DE" dirty="0"/>
              <a:t>. Dabei wird überprüft, ob der Server wirklich derjenige ist, für den er sich ausgibt. Das verhindert, dass sich ein Angreifer als echter Server ausgeben kann.</a:t>
            </a:r>
          </a:p>
          <a:p>
            <a:r>
              <a:rPr lang="de-DE" dirty="0"/>
              <a:t>Durch diese Kombination aus Verschlüsselung und Authentifizierung stellt TLS sicher, dass Daten vertraulich übertragen werden und der Kommunikationspartner vertrauenswürdig ist. Genau deshalb ist TLS eine zentrale Grundlage für Sicherheit im modernen Internet.</a:t>
            </a:r>
          </a:p>
          <a:p>
            <a:endParaRPr lang="de-CH" dirty="0"/>
          </a:p>
        </p:txBody>
      </p:sp>
      <p:sp>
        <p:nvSpPr>
          <p:cNvPr id="4" name="Foliennummernplatzhalter 3"/>
          <p:cNvSpPr>
            <a:spLocks noGrp="1"/>
          </p:cNvSpPr>
          <p:nvPr>
            <p:ph type="sldNum" sz="quarter" idx="5"/>
          </p:nvPr>
        </p:nvSpPr>
        <p:spPr/>
        <p:txBody>
          <a:bodyPr/>
          <a:lstStyle/>
          <a:p>
            <a:fld id="{1788AF4E-C476-45AD-AFE8-30D2E52C9F00}" type="slidenum">
              <a:rPr lang="de-CH" smtClean="0"/>
              <a:t>5</a:t>
            </a:fld>
            <a:endParaRPr lang="de-CH"/>
          </a:p>
        </p:txBody>
      </p:sp>
    </p:spTree>
    <p:extLst>
      <p:ext uri="{BB962C8B-B14F-4D97-AF65-F5344CB8AC3E}">
        <p14:creationId xmlns:p14="http://schemas.microsoft.com/office/powerpoint/2010/main" val="884920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err="1"/>
              <a:t>nicolas</a:t>
            </a:r>
            <a:r>
              <a:rPr lang="de-CH" dirty="0"/>
              <a:t>:</a:t>
            </a:r>
            <a:r>
              <a:rPr lang="de-DE" dirty="0"/>
              <a:t>Zuerst zur </a:t>
            </a:r>
            <a:r>
              <a:rPr lang="de-DE" b="1" dirty="0"/>
              <a:t>asymmetrischen Verschlüsselung</a:t>
            </a:r>
            <a:r>
              <a:rPr lang="de-DE" dirty="0"/>
              <a:t>. Bei dieser Methode gibt es zwei zusammengehörige Schlüssel: einen </a:t>
            </a:r>
            <a:r>
              <a:rPr lang="de-DE" b="1" dirty="0"/>
              <a:t>Public Key</a:t>
            </a:r>
            <a:r>
              <a:rPr lang="de-DE" dirty="0"/>
              <a:t> und einen </a:t>
            </a:r>
            <a:r>
              <a:rPr lang="de-DE" b="1" dirty="0"/>
              <a:t>Private Key</a:t>
            </a:r>
            <a:r>
              <a:rPr lang="de-DE" dirty="0"/>
              <a:t>.</a:t>
            </a:r>
            <a:br>
              <a:rPr lang="de-DE" dirty="0"/>
            </a:br>
            <a:r>
              <a:rPr lang="de-DE" dirty="0"/>
              <a:t>Der Public Key ist öffentlich und darf an jeden verteilt werden. Der Private Key hingegen bleibt geheim und ist nur dem Server bekannt.</a:t>
            </a:r>
          </a:p>
          <a:p>
            <a:r>
              <a:rPr lang="de-DE" dirty="0"/>
              <a:t>Der entscheidende Punkt ist: Daten, die mit dem Public Key verschlüsselt werden, können </a:t>
            </a:r>
            <a:r>
              <a:rPr lang="de-DE" b="1" dirty="0"/>
              <a:t>nur mit dem passenden Private Key entschlüsselt werden</a:t>
            </a:r>
            <a:r>
              <a:rPr lang="de-DE" dirty="0"/>
              <a:t>. Das macht diese Methode sehr sicher, da niemand ohne den privaten Schlüssel an die Daten kommt.</a:t>
            </a:r>
          </a:p>
          <a:p>
            <a:r>
              <a:rPr lang="de-DE" dirty="0"/>
              <a:t>Asymmetrische Verschlüsselung hat aber einen Nachteil: Sie ist </a:t>
            </a:r>
            <a:r>
              <a:rPr lang="de-DE" b="1" dirty="0"/>
              <a:t>rechenintensiv und langsam</a:t>
            </a:r>
            <a:r>
              <a:rPr lang="de-DE" dirty="0"/>
              <a:t>. Deshalb eignet sie sich nicht für die dauerhafte Übertragung </a:t>
            </a:r>
            <a:r>
              <a:rPr lang="de-DE" dirty="0" err="1"/>
              <a:t>grosser</a:t>
            </a:r>
            <a:r>
              <a:rPr lang="de-DE" dirty="0"/>
              <a:t> Datenmengen.</a:t>
            </a:r>
          </a:p>
          <a:p>
            <a:r>
              <a:rPr lang="de-DE" dirty="0"/>
              <a:t>Genau hier kommt die </a:t>
            </a:r>
            <a:r>
              <a:rPr lang="de-DE" b="1" dirty="0"/>
              <a:t>symmetrische Verschlüsselung</a:t>
            </a:r>
            <a:r>
              <a:rPr lang="de-DE" dirty="0"/>
              <a:t> ins Spiel. Bei dieser Methode verwenden Client und Server </a:t>
            </a:r>
            <a:r>
              <a:rPr lang="de-DE" b="1" dirty="0"/>
              <a:t>denselben Schlüssel</a:t>
            </a:r>
            <a:r>
              <a:rPr lang="de-DE" dirty="0"/>
              <a:t>, den sogenannten </a:t>
            </a:r>
            <a:r>
              <a:rPr lang="de-DE" b="1" dirty="0"/>
              <a:t>Sitzungsschlüssel</a:t>
            </a:r>
            <a:r>
              <a:rPr lang="de-DE" dirty="0"/>
              <a:t>. Mit diesem Schlüssel werden alle Daten verschlüsselt und wieder entschlüsselt.</a:t>
            </a:r>
          </a:p>
          <a:p>
            <a:r>
              <a:rPr lang="de-DE" dirty="0"/>
              <a:t>Symmetrische Verschlüsselung ist </a:t>
            </a:r>
            <a:r>
              <a:rPr lang="de-DE" b="1" dirty="0"/>
              <a:t>sehr schnell und effizient</a:t>
            </a:r>
            <a:r>
              <a:rPr lang="de-DE" dirty="0"/>
              <a:t>, weshalb sie ideal für die eigentliche Datenübertragung ist. Der Sitzungsschlüssel wird jedoch nicht einfach ungeschützt verschickt, sondern zuvor sicher ausgehandelt.</a:t>
            </a:r>
          </a:p>
          <a:p>
            <a:r>
              <a:rPr lang="de-DE" dirty="0"/>
              <a:t>In TLS werden beide Methoden kombiniert. Die asymmetrische Verschlüsselung wird genutzt, um den Sitzungsschlüssel sicher auszutauschen. Danach übernimmt die symmetrische Verschlüsselung die laufende Kommunikation.</a:t>
            </a:r>
          </a:p>
          <a:p>
            <a:r>
              <a:rPr lang="de-DE" dirty="0"/>
              <a:t>Durch diese Kombination wird einerseits hohe Sicherheit erreicht und andererseits eine schnelle Datenübertragung ermöglicht. Das ist ein zentraler Grund, warum TLS im Web so gut funktioniert.</a:t>
            </a:r>
          </a:p>
          <a:p>
            <a:endParaRPr lang="de-CH" dirty="0"/>
          </a:p>
        </p:txBody>
      </p:sp>
      <p:sp>
        <p:nvSpPr>
          <p:cNvPr id="4" name="Foliennummernplatzhalter 3"/>
          <p:cNvSpPr>
            <a:spLocks noGrp="1"/>
          </p:cNvSpPr>
          <p:nvPr>
            <p:ph type="sldNum" sz="quarter" idx="5"/>
          </p:nvPr>
        </p:nvSpPr>
        <p:spPr/>
        <p:txBody>
          <a:bodyPr/>
          <a:lstStyle/>
          <a:p>
            <a:fld id="{1788AF4E-C476-45AD-AFE8-30D2E52C9F00}" type="slidenum">
              <a:rPr lang="de-CH" smtClean="0"/>
              <a:t>6</a:t>
            </a:fld>
            <a:endParaRPr lang="de-CH"/>
          </a:p>
        </p:txBody>
      </p:sp>
    </p:spTree>
    <p:extLst>
      <p:ext uri="{BB962C8B-B14F-4D97-AF65-F5344CB8AC3E}">
        <p14:creationId xmlns:p14="http://schemas.microsoft.com/office/powerpoint/2010/main" val="14799554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err="1"/>
              <a:t>mario</a:t>
            </a:r>
            <a:r>
              <a:rPr lang="de-CH" dirty="0"/>
              <a:t>:</a:t>
            </a:r>
            <a:r>
              <a:rPr lang="de-DE" dirty="0"/>
              <a:t>Ein </a:t>
            </a:r>
            <a:r>
              <a:rPr lang="de-DE" b="1" dirty="0"/>
              <a:t>Zertifikat</a:t>
            </a:r>
            <a:r>
              <a:rPr lang="de-DE" dirty="0"/>
              <a:t> dient dazu, die </a:t>
            </a:r>
            <a:r>
              <a:rPr lang="de-DE" b="1" dirty="0"/>
              <a:t>Identität eines Servers zu bestätigen</a:t>
            </a:r>
            <a:r>
              <a:rPr lang="de-DE" dirty="0"/>
              <a:t>. Es sorgt dafür, dass ein Client sicher sein kann, dass er wirklich mit dem richtigen Server verbunden ist und nicht mit einem Angreifer.</a:t>
            </a:r>
          </a:p>
          <a:p>
            <a:r>
              <a:rPr lang="de-DE" dirty="0"/>
              <a:t>In einem Zertifikat sind verschiedene Informationen enthalten. Eine der wichtigsten ist der </a:t>
            </a:r>
            <a:r>
              <a:rPr lang="de-DE" b="1" dirty="0"/>
              <a:t>Public Key</a:t>
            </a:r>
            <a:r>
              <a:rPr lang="de-DE" dirty="0"/>
              <a:t> des Servers. Dieser Public Key wird später für den sicheren Schlüsselaustausch verwendet. Zusätzlich enthält das Zertifikat Angaben wie den Namen der Domain und die Gültigkeitsdauer.</a:t>
            </a:r>
          </a:p>
          <a:p>
            <a:r>
              <a:rPr lang="de-DE" dirty="0"/>
              <a:t>Zertifikate werden nicht einfach selbst erstellt und verteilt, sondern von sogenannten </a:t>
            </a:r>
            <a:r>
              <a:rPr lang="de-DE" b="1" dirty="0"/>
              <a:t>Zertifizierungsstellen</a:t>
            </a:r>
            <a:r>
              <a:rPr lang="de-DE" dirty="0"/>
              <a:t>, auch </a:t>
            </a:r>
            <a:r>
              <a:rPr lang="de-DE" b="1" dirty="0" err="1"/>
              <a:t>Certificate</a:t>
            </a:r>
            <a:r>
              <a:rPr lang="de-DE" b="1" dirty="0"/>
              <a:t> </a:t>
            </a:r>
            <a:r>
              <a:rPr lang="de-DE" b="1" dirty="0" err="1"/>
              <a:t>Authorities</a:t>
            </a:r>
            <a:r>
              <a:rPr lang="de-DE" dirty="0"/>
              <a:t> oder kurz </a:t>
            </a:r>
            <a:r>
              <a:rPr lang="de-DE" b="1" dirty="0"/>
              <a:t>CA</a:t>
            </a:r>
            <a:r>
              <a:rPr lang="de-DE" dirty="0"/>
              <a:t> genannt, ausgestellt. Diese Stellen haben die Aufgabe, die Identität eines Servers zu überprüfen, bevor sie ein Zertifikat ausgeben.</a:t>
            </a:r>
          </a:p>
          <a:p>
            <a:r>
              <a:rPr lang="de-DE" dirty="0"/>
              <a:t>Bekannte Zertifizierungsstellen sind zum Beispiel internationale Organisationen, denen gängige Browser vertrauen. Diese Vertrauenswürdigkeit ist entscheidend, damit das Sicherheitskonzept funktioniert.</a:t>
            </a:r>
          </a:p>
          <a:p>
            <a:r>
              <a:rPr lang="de-DE" dirty="0"/>
              <a:t>Wenn ein Browser eine HTTPS-Verbindung aufbaut, </a:t>
            </a:r>
            <a:r>
              <a:rPr lang="de-DE" b="1" dirty="0"/>
              <a:t>prüft er das Zertifikat</a:t>
            </a:r>
            <a:r>
              <a:rPr lang="de-DE" dirty="0"/>
              <a:t> des Servers. Dabei kontrolliert er, ob das Zertifikat gültig ist, ob es zur aufgerufenen Domain passt und ob es von einer vertrauenswürdigen Zertifizierungsstelle stammt.</a:t>
            </a:r>
          </a:p>
          <a:p>
            <a:r>
              <a:rPr lang="de-DE" dirty="0"/>
              <a:t>Zusätzlich prüfen Browser die sogenannte </a:t>
            </a:r>
            <a:r>
              <a:rPr lang="de-DE" b="1" dirty="0"/>
              <a:t>Vertrauenskette</a:t>
            </a:r>
            <a:r>
              <a:rPr lang="de-DE" dirty="0"/>
              <a:t>. Das bedeutet, dass sie nicht nur dem einzelnen Zertifikat vertrauen, sondern auch allen übergeordneten Zertifikaten bis hin zu einer bekannten Stammzertifizierungsstelle.</a:t>
            </a:r>
          </a:p>
          <a:p>
            <a:r>
              <a:rPr lang="de-DE" dirty="0"/>
              <a:t>Wenn diese Prüfungen erfolgreich sind, wird die Verbindung als sicher eingestuft. Falls nicht, zeigt der Browser eine Sicherheitswarnung an. Genau diese Prüfungen machen es Angreifern sehr schwer, sich als vertrauenswürdiger Server auszugeben.</a:t>
            </a:r>
          </a:p>
          <a:p>
            <a:endParaRPr lang="de-CH" dirty="0"/>
          </a:p>
        </p:txBody>
      </p:sp>
      <p:sp>
        <p:nvSpPr>
          <p:cNvPr id="4" name="Foliennummernplatzhalter 3"/>
          <p:cNvSpPr>
            <a:spLocks noGrp="1"/>
          </p:cNvSpPr>
          <p:nvPr>
            <p:ph type="sldNum" sz="quarter" idx="5"/>
          </p:nvPr>
        </p:nvSpPr>
        <p:spPr/>
        <p:txBody>
          <a:bodyPr/>
          <a:lstStyle/>
          <a:p>
            <a:fld id="{1788AF4E-C476-45AD-AFE8-30D2E52C9F00}" type="slidenum">
              <a:rPr lang="de-CH" smtClean="0"/>
              <a:t>7</a:t>
            </a:fld>
            <a:endParaRPr lang="de-CH"/>
          </a:p>
        </p:txBody>
      </p:sp>
    </p:spTree>
    <p:extLst>
      <p:ext uri="{BB962C8B-B14F-4D97-AF65-F5344CB8AC3E}">
        <p14:creationId xmlns:p14="http://schemas.microsoft.com/office/powerpoint/2010/main" val="1946414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err="1"/>
              <a:t>loic</a:t>
            </a:r>
            <a:r>
              <a:rPr lang="de-CH" dirty="0"/>
              <a:t>:</a:t>
            </a:r>
            <a:r>
              <a:rPr lang="de-DE" b="1" dirty="0"/>
              <a:t>Schritt 1: Client Hello.</a:t>
            </a:r>
            <a:br>
              <a:rPr lang="de-DE" dirty="0"/>
            </a:br>
            <a:r>
              <a:rPr lang="de-DE" dirty="0"/>
              <a:t>Der Client, zum Beispiel ein Browser, meldet sich beim Server und sagt damit: </a:t>
            </a:r>
            <a:r>
              <a:rPr lang="de-DE" i="1" dirty="0"/>
              <a:t>Ich möchte eine sichere Verbindung aufbauen.</a:t>
            </a:r>
            <a:r>
              <a:rPr lang="de-DE" dirty="0"/>
              <a:t> Dabei teilt der Client dem Server mit, welche TLS-Versionen und Verschlüsselungsverfahren er unterstützt.</a:t>
            </a:r>
          </a:p>
          <a:p>
            <a:r>
              <a:rPr lang="de-DE" b="1" dirty="0"/>
              <a:t>Schritt 2: Server sendet Zertifikat.</a:t>
            </a:r>
            <a:br>
              <a:rPr lang="de-DE" dirty="0"/>
            </a:br>
            <a:r>
              <a:rPr lang="de-DE" dirty="0"/>
              <a:t>Der Server antwortet auf diese Anfrage und schickt sein </a:t>
            </a:r>
            <a:r>
              <a:rPr lang="de-DE" b="1" dirty="0"/>
              <a:t>Zertifikat</a:t>
            </a:r>
            <a:r>
              <a:rPr lang="de-DE" dirty="0"/>
              <a:t> an den Client. In diesem Zertifikat sind wichtige Informationen enthalten, unter anderem der </a:t>
            </a:r>
            <a:r>
              <a:rPr lang="de-DE" b="1" dirty="0"/>
              <a:t>Public Key</a:t>
            </a:r>
            <a:r>
              <a:rPr lang="de-DE" dirty="0"/>
              <a:t> des Servers und Angaben zur Domain.</a:t>
            </a:r>
          </a:p>
          <a:p>
            <a:r>
              <a:rPr lang="de-DE" b="1" dirty="0"/>
              <a:t>Schritt 3: Überprüfung durch den Client.</a:t>
            </a:r>
            <a:br>
              <a:rPr lang="de-DE" dirty="0"/>
            </a:br>
            <a:r>
              <a:rPr lang="de-DE" dirty="0"/>
              <a:t>Der Client prüft nun das erhaltene Zertifikat. Er kontrolliert, ob das Zertifikat gültig ist, ob es zur aufgerufenen Adresse passt und ob es von einer </a:t>
            </a:r>
            <a:r>
              <a:rPr lang="de-DE" b="1" dirty="0"/>
              <a:t>vertrauenswürdigen Zertifizierungsstelle</a:t>
            </a:r>
            <a:r>
              <a:rPr lang="de-DE" dirty="0"/>
              <a:t> ausgestellt wurde.</a:t>
            </a:r>
            <a:br>
              <a:rPr lang="de-DE" dirty="0"/>
            </a:br>
            <a:r>
              <a:rPr lang="de-DE" dirty="0"/>
              <a:t>Falls diese Prüfung fehlschlägt, zeigt der Browser eine Sicherheitswarnung an.</a:t>
            </a:r>
          </a:p>
          <a:p>
            <a:r>
              <a:rPr lang="de-DE" b="1" dirty="0"/>
              <a:t>Schritt 4: Schlüsselaustausch.</a:t>
            </a:r>
            <a:br>
              <a:rPr lang="de-DE" dirty="0"/>
            </a:br>
            <a:r>
              <a:rPr lang="de-DE" dirty="0"/>
              <a:t>Wenn das Zertifikat gültig ist, wird ein </a:t>
            </a:r>
            <a:r>
              <a:rPr lang="de-DE" b="1" dirty="0"/>
              <a:t>gemeinsamer Sitzungsschlüssel</a:t>
            </a:r>
            <a:r>
              <a:rPr lang="de-DE" dirty="0"/>
              <a:t> ausgehandelt. Dieser Vorgang nutzt die asymmetrische Verschlüsselung, damit der Sitzungsschlüssel sicher übertragen werden kann.</a:t>
            </a:r>
          </a:p>
          <a:p>
            <a:r>
              <a:rPr lang="de-DE" b="1" dirty="0"/>
              <a:t>Schritt 5: Verschlüsselte Kommunikation.</a:t>
            </a:r>
            <a:br>
              <a:rPr lang="de-DE" dirty="0"/>
            </a:br>
            <a:r>
              <a:rPr lang="de-DE" dirty="0"/>
              <a:t>Ab diesem Moment verwenden Client und Server den Sitzungsschlüssel für die </a:t>
            </a:r>
            <a:r>
              <a:rPr lang="de-DE" b="1" dirty="0"/>
              <a:t>symmetrische Verschlüsselung</a:t>
            </a:r>
            <a:r>
              <a:rPr lang="de-DE" dirty="0"/>
              <a:t>. Die eigentliche Datenübertragung beginnt nun sicher, schnell und verschlüsselt.</a:t>
            </a:r>
          </a:p>
          <a:p>
            <a:r>
              <a:rPr lang="de-DE" dirty="0"/>
              <a:t>Der TLS-Handshake sorgt also dafür, dass sich Client und Server gegenseitig vertrauen können und dass alle folgenden Daten geschützt übertragen werden. Ohne diesen Ablauf wäre HTTPS nicht möglich.</a:t>
            </a:r>
          </a:p>
          <a:p>
            <a:endParaRPr lang="de-CH" dirty="0"/>
          </a:p>
        </p:txBody>
      </p:sp>
      <p:sp>
        <p:nvSpPr>
          <p:cNvPr id="4" name="Foliennummernplatzhalter 3"/>
          <p:cNvSpPr>
            <a:spLocks noGrp="1"/>
          </p:cNvSpPr>
          <p:nvPr>
            <p:ph type="sldNum" sz="quarter" idx="5"/>
          </p:nvPr>
        </p:nvSpPr>
        <p:spPr/>
        <p:txBody>
          <a:bodyPr/>
          <a:lstStyle/>
          <a:p>
            <a:fld id="{1788AF4E-C476-45AD-AFE8-30D2E52C9F00}" type="slidenum">
              <a:rPr lang="de-CH" smtClean="0"/>
              <a:t>8</a:t>
            </a:fld>
            <a:endParaRPr lang="de-CH"/>
          </a:p>
        </p:txBody>
      </p:sp>
    </p:spTree>
    <p:extLst>
      <p:ext uri="{BB962C8B-B14F-4D97-AF65-F5344CB8AC3E}">
        <p14:creationId xmlns:p14="http://schemas.microsoft.com/office/powerpoint/2010/main" val="2882797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Nicolas:</a:t>
            </a:r>
            <a:r>
              <a:rPr lang="de-DE" dirty="0"/>
              <a:t>Ein zentraler Punkt sind </a:t>
            </a:r>
            <a:r>
              <a:rPr lang="de-DE" b="1" dirty="0"/>
              <a:t>Passwörter</a:t>
            </a:r>
            <a:r>
              <a:rPr lang="de-DE" dirty="0"/>
              <a:t>. Wenn sich ein Benutzer auf einer Website anmeldet, werden Benutzername und Passwort an den Server übertragen. Durch HTTPS werden diese Daten </a:t>
            </a:r>
            <a:r>
              <a:rPr lang="de-DE" b="1" dirty="0"/>
              <a:t>verschlüsselt</a:t>
            </a:r>
            <a:r>
              <a:rPr lang="de-DE" dirty="0"/>
              <a:t>, sodass sie unterwegs nicht von Dritten mitgelesen werden können.</a:t>
            </a:r>
          </a:p>
          <a:p>
            <a:r>
              <a:rPr lang="de-DE" dirty="0"/>
              <a:t>Ein weiterer wichtiger Bereich sind </a:t>
            </a:r>
            <a:r>
              <a:rPr lang="de-DE" b="1" dirty="0"/>
              <a:t>Formulardaten</a:t>
            </a:r>
            <a:r>
              <a:rPr lang="de-DE" dirty="0"/>
              <a:t>. Dazu gehören zum Beispiel Kontaktformulare, Suchanfragen oder persönliche Angaben wie Namen und E-Mail-Adressen. Ohne HTTPS könnten diese Informationen im Klartext übertragen und abgefangen werden.</a:t>
            </a:r>
          </a:p>
          <a:p>
            <a:r>
              <a:rPr lang="de-DE" dirty="0"/>
              <a:t>HTTPS schützt </a:t>
            </a:r>
            <a:r>
              <a:rPr lang="de-DE" dirty="0" err="1"/>
              <a:t>ausserdem</a:t>
            </a:r>
            <a:r>
              <a:rPr lang="de-DE" dirty="0"/>
              <a:t> </a:t>
            </a:r>
            <a:r>
              <a:rPr lang="de-DE" b="1" dirty="0"/>
              <a:t>Cookies und Sitzungen</a:t>
            </a:r>
            <a:r>
              <a:rPr lang="de-DE" dirty="0"/>
              <a:t>. Cookies enthalten oft Informationen, mit denen ein Benutzer wiedererkannt wird, zum Beispiel nach einem Login. Wenn ein Angreifer Zugriff auf diese Cookies bekommt, kann er sich unter Umständen als dieser Benutzer ausgeben.</a:t>
            </a:r>
          </a:p>
          <a:p>
            <a:r>
              <a:rPr lang="de-DE" dirty="0"/>
              <a:t>Durch HTTPS wird verhindert, dass solche Sitzungsdaten einfach abgefangen oder verändert werden. Das ist besonders wichtig für Webseiten, bei denen Benutzerkonten oder personalisierte Inhalte verwendet werden.</a:t>
            </a:r>
          </a:p>
          <a:p>
            <a:r>
              <a:rPr lang="de-DE" dirty="0"/>
              <a:t>Zusätzlich bietet HTTPS </a:t>
            </a:r>
            <a:r>
              <a:rPr lang="de-DE" b="1" dirty="0"/>
              <a:t>Schutz vor Mitlesen und Manipulation</a:t>
            </a:r>
            <a:r>
              <a:rPr lang="de-DE" dirty="0"/>
              <a:t>. Das bedeutet, dass niemand den Datenverkehr nicht nur lesen, sondern auch verändern kann. Ohne Verschlüsselung könnten Inhalte einer Webseite unterwegs manipuliert werden, zum Beispiel um schädlichen Code einzuschleusen.</a:t>
            </a:r>
          </a:p>
          <a:p>
            <a:r>
              <a:rPr lang="de-DE" dirty="0"/>
              <a:t>Zusammengefasst schützt HTTPS also nicht nur einzelne Daten wie Passwörter, sondern die gesamte Kommunikation zwischen Client und Server. Dadurch wird sichergestellt, dass die Daten vertraulich, unverändert und sicher übertragen werden.</a:t>
            </a:r>
          </a:p>
          <a:p>
            <a:endParaRPr lang="de-CH" dirty="0"/>
          </a:p>
        </p:txBody>
      </p:sp>
      <p:sp>
        <p:nvSpPr>
          <p:cNvPr id="4" name="Foliennummernplatzhalter 3"/>
          <p:cNvSpPr>
            <a:spLocks noGrp="1"/>
          </p:cNvSpPr>
          <p:nvPr>
            <p:ph type="sldNum" sz="quarter" idx="5"/>
          </p:nvPr>
        </p:nvSpPr>
        <p:spPr/>
        <p:txBody>
          <a:bodyPr/>
          <a:lstStyle/>
          <a:p>
            <a:fld id="{1788AF4E-C476-45AD-AFE8-30D2E52C9F00}" type="slidenum">
              <a:rPr lang="de-CH" smtClean="0"/>
              <a:t>9</a:t>
            </a:fld>
            <a:endParaRPr lang="de-CH"/>
          </a:p>
        </p:txBody>
      </p:sp>
    </p:spTree>
    <p:extLst>
      <p:ext uri="{BB962C8B-B14F-4D97-AF65-F5344CB8AC3E}">
        <p14:creationId xmlns:p14="http://schemas.microsoft.com/office/powerpoint/2010/main" val="3078444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Mario:</a:t>
            </a:r>
            <a:r>
              <a:rPr lang="de-DE" dirty="0"/>
              <a:t>Eine der </a:t>
            </a:r>
            <a:r>
              <a:rPr lang="de-DE" dirty="0" err="1"/>
              <a:t>grössten</a:t>
            </a:r>
            <a:r>
              <a:rPr lang="de-DE" dirty="0"/>
              <a:t> Gefahren sind </a:t>
            </a:r>
            <a:r>
              <a:rPr lang="de-DE" b="1" dirty="0"/>
              <a:t>Man-in-</a:t>
            </a:r>
            <a:r>
              <a:rPr lang="de-DE" b="1" dirty="0" err="1"/>
              <a:t>the</a:t>
            </a:r>
            <a:r>
              <a:rPr lang="de-DE" b="1" dirty="0"/>
              <a:t>-Middle-Angriffe</a:t>
            </a:r>
            <a:r>
              <a:rPr lang="de-DE" dirty="0"/>
              <a:t>. Dabei schaltet sich ein Angreifer zwischen den Client und den Server. Der Benutzer glaubt, direkt mit dem Server zu kommunizieren, in Wirklichkeit läuft der gesamte Datenverkehr über den Angreifer.</a:t>
            </a:r>
          </a:p>
          <a:p>
            <a:r>
              <a:rPr lang="de-DE" dirty="0"/>
              <a:t>Bei einem solchen Angriff kann der Angreifer Daten </a:t>
            </a:r>
            <a:r>
              <a:rPr lang="de-DE" b="1" dirty="0"/>
              <a:t>mitlesen</a:t>
            </a:r>
            <a:r>
              <a:rPr lang="de-DE" dirty="0"/>
              <a:t>, </a:t>
            </a:r>
            <a:r>
              <a:rPr lang="de-DE" b="1" dirty="0"/>
              <a:t>verändern</a:t>
            </a:r>
            <a:r>
              <a:rPr lang="de-DE" dirty="0"/>
              <a:t> oder sogar komplett neue Inhalte einschleusen. Ohne HTTPS gibt es keinen zuverlässigen Schutz gegen diese Art von Angriff.</a:t>
            </a:r>
          </a:p>
          <a:p>
            <a:r>
              <a:rPr lang="de-DE" dirty="0"/>
              <a:t>Besonders häufig ist das </a:t>
            </a:r>
            <a:r>
              <a:rPr lang="de-DE" b="1" dirty="0"/>
              <a:t>Mitlesen im öffentlichen WLAN</a:t>
            </a:r>
            <a:r>
              <a:rPr lang="de-DE" dirty="0"/>
              <a:t>. In offenen Netzwerken, wie in Cafés, Bahnhöfen oder Schulen, teilen sich viele Personen dasselbe Netzwerk. Wenn keine Verschlüsselung verwendet wird, kann der Datenverkehr anderer Nutzer relativ einfach abgefangen werden.</a:t>
            </a:r>
          </a:p>
          <a:p>
            <a:r>
              <a:rPr lang="de-DE" dirty="0"/>
              <a:t>Ein weiteres Risiko ist die </a:t>
            </a:r>
            <a:r>
              <a:rPr lang="de-DE" b="1" dirty="0"/>
              <a:t>Manipulation von Inhalten</a:t>
            </a:r>
            <a:r>
              <a:rPr lang="de-DE" dirty="0"/>
              <a:t>. Ohne HTTPS können Datenpakete unterwegs verändert werden. Das kann dazu führen, dass falsche Informationen angezeigt werden oder schädlicher Code in eine eigentlich vertrauenswürdige Webseite eingefügt wird.</a:t>
            </a:r>
          </a:p>
          <a:p>
            <a:r>
              <a:rPr lang="de-DE" dirty="0"/>
              <a:t>Aus diesen Angriffen kann auch </a:t>
            </a:r>
            <a:r>
              <a:rPr lang="de-DE" b="1" dirty="0"/>
              <a:t>Identitätsdiebstahl</a:t>
            </a:r>
            <a:r>
              <a:rPr lang="de-DE" dirty="0"/>
              <a:t> entstehen. Wenn Passwörter oder Cookies abgefangen werden, kann sich ein Angreifer als der betroffene Benutzer ausgeben. Dadurch erhält er Zugriff auf fremde Konten und persönliche Daten.</a:t>
            </a:r>
          </a:p>
          <a:p>
            <a:r>
              <a:rPr lang="de-DE" dirty="0"/>
              <a:t>Diese Gefahren zeigen deutlich, warum HTTPS heute unverzichtbar ist. Ohne Verschlüsselung ist die Kommunikation im Internet nicht vertrauenswürdig und bietet zahlreiche Angriffsmöglichkeiten.</a:t>
            </a:r>
          </a:p>
          <a:p>
            <a:endParaRPr lang="de-CH" dirty="0"/>
          </a:p>
        </p:txBody>
      </p:sp>
      <p:sp>
        <p:nvSpPr>
          <p:cNvPr id="4" name="Foliennummernplatzhalter 3"/>
          <p:cNvSpPr>
            <a:spLocks noGrp="1"/>
          </p:cNvSpPr>
          <p:nvPr>
            <p:ph type="sldNum" sz="quarter" idx="5"/>
          </p:nvPr>
        </p:nvSpPr>
        <p:spPr/>
        <p:txBody>
          <a:bodyPr/>
          <a:lstStyle/>
          <a:p>
            <a:fld id="{1788AF4E-C476-45AD-AFE8-30D2E52C9F00}" type="slidenum">
              <a:rPr lang="de-CH" smtClean="0"/>
              <a:t>10</a:t>
            </a:fld>
            <a:endParaRPr lang="de-CH"/>
          </a:p>
        </p:txBody>
      </p:sp>
    </p:spTree>
    <p:extLst>
      <p:ext uri="{BB962C8B-B14F-4D97-AF65-F5344CB8AC3E}">
        <p14:creationId xmlns:p14="http://schemas.microsoft.com/office/powerpoint/2010/main" val="24713405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Loic: </a:t>
            </a:r>
            <a:r>
              <a:rPr lang="de-DE" dirty="0"/>
              <a:t>Ein wichtiger Punkt ist, dass HTTPS </a:t>
            </a:r>
            <a:r>
              <a:rPr lang="de-DE" b="1" dirty="0"/>
              <a:t>keinen Schutz vor schlechten Passwörtern</a:t>
            </a:r>
            <a:r>
              <a:rPr lang="de-DE" dirty="0"/>
              <a:t> bietet. Wenn Benutzer einfache oder mehrfach verwendete Passwörter wählen, können Konten trotzdem übernommen werden. HTTPS schützt nur die Übertragung des Passworts, nicht dessen Qualität.</a:t>
            </a:r>
          </a:p>
          <a:p>
            <a:r>
              <a:rPr lang="de-DE" dirty="0"/>
              <a:t>Ebenfalls bietet HTTPS </a:t>
            </a:r>
            <a:r>
              <a:rPr lang="de-DE" b="1" dirty="0"/>
              <a:t>keinen Schutz vor Programmierfehlern</a:t>
            </a:r>
            <a:r>
              <a:rPr lang="de-DE" dirty="0"/>
              <a:t>. Sicherheitslücken in einer Anwendung, zum Beispiel fehlerhafte Zugriffskontrollen oder unsichere Datenverarbeitung, können trotz HTTPS ausgenutzt werden. Die Verschlüsselung verhindert keine logischen Fehler im Code.</a:t>
            </a:r>
          </a:p>
          <a:p>
            <a:r>
              <a:rPr lang="de-DE" dirty="0"/>
              <a:t>Ein weiterer wichtiger Punkt ist </a:t>
            </a:r>
            <a:r>
              <a:rPr lang="de-DE" b="1" dirty="0" err="1"/>
              <a:t>Social</a:t>
            </a:r>
            <a:r>
              <a:rPr lang="de-DE" b="1" dirty="0"/>
              <a:t> Engineering</a:t>
            </a:r>
            <a:r>
              <a:rPr lang="de-DE" dirty="0"/>
              <a:t>. Dabei werden Menschen gezielt manipuliert, zum Beispiel durch Phishing-E-Mails oder gefälschte Webseiten. Selbst wenn eine Webseite HTTPS verwendet, kann ein Benutzer dazu gebracht werden, sensible Daten freiwillig preiszugeben.</a:t>
            </a:r>
          </a:p>
          <a:p>
            <a:r>
              <a:rPr lang="de-DE" dirty="0"/>
              <a:t>HTTPS schützt also nicht vor menschlichen Fehlern oder Täuschung. Es stellt lediglich sicher, dass die Daten auf dem Weg zwischen Client und Server geschützt sind.</a:t>
            </a:r>
          </a:p>
          <a:p>
            <a:r>
              <a:rPr lang="de-DE" dirty="0"/>
              <a:t>Deshalb ist HTTPS </a:t>
            </a:r>
            <a:r>
              <a:rPr lang="de-DE" b="1" dirty="0"/>
              <a:t>nur ein Teil der Gesamtsicherheit</a:t>
            </a:r>
            <a:r>
              <a:rPr lang="de-DE" dirty="0"/>
              <a:t>. Eine sichere Anwendung benötigt zusätzlich starke Passwörter, sichere Programmierung, </a:t>
            </a:r>
            <a:r>
              <a:rPr lang="de-DE" dirty="0" err="1"/>
              <a:t>regelmässige</a:t>
            </a:r>
            <a:r>
              <a:rPr lang="de-DE" dirty="0"/>
              <a:t> Updates und aufgeklärte Benutzer.</a:t>
            </a:r>
          </a:p>
          <a:p>
            <a:r>
              <a:rPr lang="de-DE" dirty="0"/>
              <a:t>Zusammengefasst kann man sagen: HTTPS ist eine grundlegende </a:t>
            </a:r>
            <a:r>
              <a:rPr lang="de-DE" dirty="0" err="1"/>
              <a:t>Sicherheitsmassnahme</a:t>
            </a:r>
            <a:r>
              <a:rPr lang="de-DE" dirty="0"/>
              <a:t>, aber echte Sicherheit entsteht erst durch das Zusammenspiel mehrerer Schutzmechanismen.</a:t>
            </a:r>
          </a:p>
          <a:p>
            <a:endParaRPr lang="de-CH" dirty="0"/>
          </a:p>
        </p:txBody>
      </p:sp>
      <p:sp>
        <p:nvSpPr>
          <p:cNvPr id="4" name="Foliennummernplatzhalter 3"/>
          <p:cNvSpPr>
            <a:spLocks noGrp="1"/>
          </p:cNvSpPr>
          <p:nvPr>
            <p:ph type="sldNum" sz="quarter" idx="5"/>
          </p:nvPr>
        </p:nvSpPr>
        <p:spPr/>
        <p:txBody>
          <a:bodyPr/>
          <a:lstStyle/>
          <a:p>
            <a:fld id="{1788AF4E-C476-45AD-AFE8-30D2E52C9F00}" type="slidenum">
              <a:rPr lang="de-CH" smtClean="0"/>
              <a:t>11</a:t>
            </a:fld>
            <a:endParaRPr lang="de-CH"/>
          </a:p>
        </p:txBody>
      </p:sp>
    </p:spTree>
    <p:extLst>
      <p:ext uri="{BB962C8B-B14F-4D97-AF65-F5344CB8AC3E}">
        <p14:creationId xmlns:p14="http://schemas.microsoft.com/office/powerpoint/2010/main" val="27657321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Nicolas: </a:t>
            </a:r>
            <a:r>
              <a:rPr lang="de-DE" dirty="0"/>
              <a:t>Ein zentraler Punkt ist der </a:t>
            </a:r>
            <a:r>
              <a:rPr lang="de-DE" b="1" dirty="0"/>
              <a:t>Einsatz von HTTPS für sichere Kommunikation</a:t>
            </a:r>
            <a:r>
              <a:rPr lang="de-DE" dirty="0"/>
              <a:t>. Sämtliche Verbindungen, bei denen Daten übertragen werden, laufen über HTTPS. Dadurch wird sichergestellt, dass Informationen nicht im Klartext über das Netzwerk gesendet werden.</a:t>
            </a:r>
          </a:p>
          <a:p>
            <a:r>
              <a:rPr lang="de-DE" dirty="0"/>
              <a:t>Dafür wurden </a:t>
            </a:r>
            <a:r>
              <a:rPr lang="de-DE" b="1" dirty="0"/>
              <a:t>SSL- beziehungsweise TLS-Zertifikate</a:t>
            </a:r>
            <a:r>
              <a:rPr lang="de-DE" dirty="0"/>
              <a:t> verwendet. Diese Zertifikate ermöglichen die Verschlüsselung der Verbindung und stellen gleichzeitig sicher, dass der Server eindeutig identifiziert werden kann. Der Client kann dadurch überprüfen, ob er mit dem richtigen Kommunikationspartner verbunden ist.</a:t>
            </a:r>
          </a:p>
          <a:p>
            <a:r>
              <a:rPr lang="de-DE" dirty="0"/>
              <a:t>Durch diese Umsetzung wird die </a:t>
            </a:r>
            <a:r>
              <a:rPr lang="de-DE" b="1" dirty="0"/>
              <a:t>Gefahr von Man-in-</a:t>
            </a:r>
            <a:r>
              <a:rPr lang="de-DE" b="1" dirty="0" err="1"/>
              <a:t>the</a:t>
            </a:r>
            <a:r>
              <a:rPr lang="de-DE" b="1" dirty="0"/>
              <a:t>-Middle-Angriffen</a:t>
            </a:r>
            <a:r>
              <a:rPr lang="de-DE" dirty="0"/>
              <a:t> deutlich reduziert. Da die Verbindung verschlüsselt und der Server authentifiziert ist, können sich Angreifer nicht einfach zwischen Client und Server schalten oder Daten unbemerkt manipulieren.</a:t>
            </a:r>
          </a:p>
          <a:p>
            <a:r>
              <a:rPr lang="de-DE" dirty="0"/>
              <a:t>Zusätzlich orientiert sich die Umsetzung an </a:t>
            </a:r>
            <a:r>
              <a:rPr lang="de-DE" b="1" dirty="0"/>
              <a:t>aktuellen Web-Sicherheitsstandards</a:t>
            </a:r>
            <a:r>
              <a:rPr lang="de-DE" dirty="0"/>
              <a:t>. Dazu gehört die Verwendung moderner TLS-Versionen sowie das Vermeiden veralteter oder unsicherer Verfahren. Das Ziel ist es, den aktuellen Best Practices zu entsprechen und bekannte Sicherheitsrisiken zu minimieren.</a:t>
            </a:r>
          </a:p>
          <a:p>
            <a:r>
              <a:rPr lang="de-DE" dirty="0"/>
              <a:t>Insgesamt zeigt diese Umsetzung, wie die zuvor erklärten Konzepte aus dem Bereich Netzwerk und SSL/TLS praktisch angewendet werden können, um eine sichere Kommunikation in einer Webanwendung zu gewährleisten.</a:t>
            </a:r>
          </a:p>
          <a:p>
            <a:endParaRPr lang="de-CH" dirty="0"/>
          </a:p>
        </p:txBody>
      </p:sp>
      <p:sp>
        <p:nvSpPr>
          <p:cNvPr id="4" name="Foliennummernplatzhalter 3"/>
          <p:cNvSpPr>
            <a:spLocks noGrp="1"/>
          </p:cNvSpPr>
          <p:nvPr>
            <p:ph type="sldNum" sz="quarter" idx="5"/>
          </p:nvPr>
        </p:nvSpPr>
        <p:spPr/>
        <p:txBody>
          <a:bodyPr/>
          <a:lstStyle/>
          <a:p>
            <a:fld id="{1788AF4E-C476-45AD-AFE8-30D2E52C9F00}" type="slidenum">
              <a:rPr lang="de-CH" smtClean="0"/>
              <a:t>12</a:t>
            </a:fld>
            <a:endParaRPr lang="de-CH"/>
          </a:p>
        </p:txBody>
      </p:sp>
    </p:spTree>
    <p:extLst>
      <p:ext uri="{BB962C8B-B14F-4D97-AF65-F5344CB8AC3E}">
        <p14:creationId xmlns:p14="http://schemas.microsoft.com/office/powerpoint/2010/main" val="41943381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Mario:</a:t>
            </a:r>
            <a:r>
              <a:rPr lang="de-DE" b="1" dirty="0"/>
              <a:t>HTTPS ist heute Pflicht</a:t>
            </a:r>
            <a:r>
              <a:rPr lang="de-DE" dirty="0"/>
              <a:t>. In modernen Webanwendungen ist eine unverschlüsselte HTTP-Verbindung nicht mehr </a:t>
            </a:r>
            <a:r>
              <a:rPr lang="de-DE" dirty="0" err="1"/>
              <a:t>zeitgemäss</a:t>
            </a:r>
            <a:r>
              <a:rPr lang="de-DE" dirty="0"/>
              <a:t>. Ohne HTTPS können Daten mitgelesen oder manipuliert werden, weshalb Browser solche Verbindungen zunehmend als unsicher kennzeichnen.</a:t>
            </a:r>
          </a:p>
          <a:p>
            <a:r>
              <a:rPr lang="de-DE" b="1" dirty="0"/>
              <a:t>TLS schützt Vertraulichkeit und Integrität</a:t>
            </a:r>
            <a:r>
              <a:rPr lang="de-DE" dirty="0"/>
              <a:t>. Durch Verschlüsselung wird sichergestellt, dass nur Client und Server die übertragenen Daten lesen können. Gleichzeitig verhindert TLS, dass Daten während der Übertragung verändert werden, ohne dass es bemerkt wird.</a:t>
            </a:r>
          </a:p>
          <a:p>
            <a:r>
              <a:rPr lang="de-DE" dirty="0"/>
              <a:t>Dennoch ist wichtig zu verstehen, dass </a:t>
            </a:r>
            <a:r>
              <a:rPr lang="de-DE" b="1" dirty="0"/>
              <a:t>Sicherheit aus mehreren Ebenen besteht</a:t>
            </a:r>
            <a:r>
              <a:rPr lang="de-DE" dirty="0"/>
              <a:t>. HTTPS und TLS schützen nur die Datenübertragung. Weitere </a:t>
            </a:r>
            <a:r>
              <a:rPr lang="de-DE" dirty="0" err="1"/>
              <a:t>Massnahmen</a:t>
            </a:r>
            <a:r>
              <a:rPr lang="de-DE" dirty="0"/>
              <a:t> wie starke Passwörter, sichere Programmierung, </a:t>
            </a:r>
            <a:r>
              <a:rPr lang="de-DE" dirty="0" err="1"/>
              <a:t>regelmässige</a:t>
            </a:r>
            <a:r>
              <a:rPr lang="de-DE" dirty="0"/>
              <a:t> Updates und das Bewusstsein der Benutzer sind genauso entscheidend.</a:t>
            </a:r>
          </a:p>
          <a:p>
            <a:r>
              <a:rPr lang="de-DE" dirty="0"/>
              <a:t>Zusammengefasst kann man sagen: HTTPS bildet die Grundlage für sichere Kommunikation im Web. Es allein reicht jedoch nicht aus, sondern muss Teil eines ganzheitlichen Sicherheitskonzepts sein.</a:t>
            </a:r>
          </a:p>
          <a:p>
            <a:endParaRPr lang="de-CH" dirty="0"/>
          </a:p>
        </p:txBody>
      </p:sp>
      <p:sp>
        <p:nvSpPr>
          <p:cNvPr id="4" name="Foliennummernplatzhalter 3"/>
          <p:cNvSpPr>
            <a:spLocks noGrp="1"/>
          </p:cNvSpPr>
          <p:nvPr>
            <p:ph type="sldNum" sz="quarter" idx="5"/>
          </p:nvPr>
        </p:nvSpPr>
        <p:spPr/>
        <p:txBody>
          <a:bodyPr/>
          <a:lstStyle/>
          <a:p>
            <a:fld id="{1788AF4E-C476-45AD-AFE8-30D2E52C9F00}" type="slidenum">
              <a:rPr lang="de-CH" smtClean="0"/>
              <a:t>13</a:t>
            </a:fld>
            <a:endParaRPr lang="de-CH"/>
          </a:p>
        </p:txBody>
      </p:sp>
    </p:spTree>
    <p:extLst>
      <p:ext uri="{BB962C8B-B14F-4D97-AF65-F5344CB8AC3E}">
        <p14:creationId xmlns:p14="http://schemas.microsoft.com/office/powerpoint/2010/main" val="359834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12/17/2025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Ein 3D-Muster von Ringformen, die mit Linien verbunden sind">
            <a:extLst>
              <a:ext uri="{FF2B5EF4-FFF2-40B4-BE49-F238E27FC236}">
                <a16:creationId xmlns:a16="http://schemas.microsoft.com/office/drawing/2014/main" id="{6FF0D397-FBC7-F15B-0E29-EFCF3EC2EA0C}"/>
              </a:ext>
            </a:extLst>
          </p:cNvPr>
          <p:cNvPicPr>
            <a:picLocks noChangeAspect="1"/>
          </p:cNvPicPr>
          <p:nvPr/>
        </p:nvPicPr>
        <p:blipFill>
          <a:blip r:embed="rId2"/>
          <a:srcRect r="28900"/>
          <a:stretch>
            <a:fillRect/>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77981" y="1122363"/>
            <a:ext cx="4023360" cy="3204134"/>
          </a:xfrm>
        </p:spPr>
        <p:txBody>
          <a:bodyPr vert="horz" lIns="91440" tIns="45720" rIns="91440" bIns="45720" rtlCol="0" anchor="b">
            <a:normAutofit/>
          </a:bodyPr>
          <a:lstStyle/>
          <a:p>
            <a:pPr algn="l" defTabSz="914400">
              <a:lnSpc>
                <a:spcPct val="90000"/>
              </a:lnSpc>
            </a:pPr>
            <a:r>
              <a:rPr lang="en-US" sz="4800">
                <a:solidFill>
                  <a:schemeClr val="bg1"/>
                </a:solidFill>
              </a:rPr>
              <a:t>Netzwerk &amp; SSL/TLS</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a:t>Inhalt</a:t>
            </a:r>
            <a:endParaRPr dirty="0"/>
          </a:p>
        </p:txBody>
      </p:sp>
      <p:sp>
        <p:nvSpPr>
          <p:cNvPr id="3" name="Content Placeholder 2"/>
          <p:cNvSpPr>
            <a:spLocks noGrp="1"/>
          </p:cNvSpPr>
          <p:nvPr>
            <p:ph idx="1"/>
          </p:nvPr>
        </p:nvSpPr>
        <p:spPr/>
        <p:txBody>
          <a:bodyPr/>
          <a:lstStyle/>
          <a:p>
            <a:pPr marL="0" indent="0">
              <a:buNone/>
            </a:pPr>
            <a:r>
              <a:rPr dirty="0"/>
              <a:t>• </a:t>
            </a:r>
            <a:r>
              <a:rPr dirty="0" err="1"/>
              <a:t>Netzwerkgrundlagen</a:t>
            </a:r>
            <a:endParaRPr dirty="0"/>
          </a:p>
          <a:p>
            <a:pPr marL="0" indent="0">
              <a:buNone/>
            </a:pPr>
            <a:r>
              <a:rPr dirty="0"/>
              <a:t>• HTTP vs HTTPS</a:t>
            </a:r>
          </a:p>
          <a:p>
            <a:pPr marL="0" indent="0">
              <a:buNone/>
            </a:pPr>
            <a:r>
              <a:rPr dirty="0"/>
              <a:t>• SSL/TLS und </a:t>
            </a:r>
            <a:r>
              <a:rPr dirty="0" err="1"/>
              <a:t>Zertifikate</a:t>
            </a:r>
            <a:endParaRPr lang="de-CH" dirty="0"/>
          </a:p>
          <a:p>
            <a:pPr marL="0" indent="0">
              <a:buNone/>
            </a:pPr>
            <a:r>
              <a:rPr lang="de-CH" dirty="0"/>
              <a:t>• Verschlüsselung</a:t>
            </a:r>
          </a:p>
          <a:p>
            <a:pPr marL="0" indent="0">
              <a:buNone/>
            </a:pPr>
            <a:r>
              <a:rPr lang="de-CH" dirty="0"/>
              <a:t>• Zertifikate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Netzwerkgrundlagen</a:t>
            </a:r>
          </a:p>
        </p:txBody>
      </p:sp>
      <p:sp>
        <p:nvSpPr>
          <p:cNvPr id="3" name="Content Placeholder 2"/>
          <p:cNvSpPr>
            <a:spLocks noGrp="1"/>
          </p:cNvSpPr>
          <p:nvPr>
            <p:ph idx="1"/>
          </p:nvPr>
        </p:nvSpPr>
        <p:spPr/>
        <p:txBody>
          <a:bodyPr/>
          <a:lstStyle/>
          <a:p>
            <a:pPr marL="0" indent="0">
              <a:buNone/>
            </a:pPr>
            <a:r>
              <a:rPr dirty="0"/>
              <a:t>• Client–Server-Modell</a:t>
            </a:r>
          </a:p>
          <a:p>
            <a:pPr marL="0" indent="0">
              <a:buNone/>
            </a:pPr>
            <a:r>
              <a:rPr dirty="0"/>
              <a:t>• </a:t>
            </a:r>
            <a:r>
              <a:rPr dirty="0" err="1"/>
              <a:t>Kommunikation</a:t>
            </a:r>
            <a:r>
              <a:rPr dirty="0"/>
              <a:t> </a:t>
            </a:r>
            <a:r>
              <a:rPr dirty="0" err="1"/>
              <a:t>über</a:t>
            </a:r>
            <a:r>
              <a:rPr dirty="0"/>
              <a:t> </a:t>
            </a:r>
            <a:r>
              <a:rPr dirty="0" err="1"/>
              <a:t>Netzwerke</a:t>
            </a:r>
            <a:endParaRPr dirty="0"/>
          </a:p>
          <a:p>
            <a:pPr marL="0" indent="0">
              <a:buNone/>
            </a:pPr>
            <a:r>
              <a:rPr dirty="0"/>
              <a:t>• IP-</a:t>
            </a:r>
            <a:r>
              <a:rPr dirty="0" err="1"/>
              <a:t>Adresse</a:t>
            </a:r>
            <a:r>
              <a:rPr dirty="0"/>
              <a:t> und Ports</a:t>
            </a:r>
          </a:p>
          <a:p>
            <a:pPr marL="0" indent="0">
              <a:buNone/>
            </a:pPr>
            <a:r>
              <a:rPr dirty="0"/>
              <a:t>• </a:t>
            </a:r>
            <a:r>
              <a:rPr dirty="0" err="1"/>
              <a:t>Typische</a:t>
            </a:r>
            <a:r>
              <a:rPr dirty="0"/>
              <a:t> Ports:</a:t>
            </a:r>
          </a:p>
          <a:p>
            <a:pPr marL="0" indent="0">
              <a:buNone/>
            </a:pPr>
            <a:r>
              <a:rPr dirty="0"/>
              <a:t>  – 80 (HTTP)</a:t>
            </a:r>
          </a:p>
          <a:p>
            <a:pPr marL="0" indent="0">
              <a:buNone/>
            </a:pPr>
            <a:r>
              <a:rPr dirty="0"/>
              <a:t>  – 443 (HTTPS)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HTTP vs HTTPS</a:t>
            </a:r>
          </a:p>
        </p:txBody>
      </p:sp>
      <p:sp>
        <p:nvSpPr>
          <p:cNvPr id="3" name="Content Placeholder 2"/>
          <p:cNvSpPr>
            <a:spLocks noGrp="1"/>
          </p:cNvSpPr>
          <p:nvPr>
            <p:ph idx="1"/>
          </p:nvPr>
        </p:nvSpPr>
        <p:spPr/>
        <p:txBody>
          <a:bodyPr>
            <a:normAutofit lnSpcReduction="10000"/>
          </a:bodyPr>
          <a:lstStyle/>
          <a:p>
            <a:pPr marL="0" indent="0">
              <a:buNone/>
            </a:pPr>
            <a:r>
              <a:rPr dirty="0"/>
              <a:t>HTTP:</a:t>
            </a:r>
          </a:p>
          <a:p>
            <a:pPr marL="0" indent="0">
              <a:buNone/>
            </a:pPr>
            <a:r>
              <a:rPr dirty="0"/>
              <a:t>• </a:t>
            </a:r>
            <a:r>
              <a:rPr dirty="0" err="1"/>
              <a:t>Daten</a:t>
            </a:r>
            <a:r>
              <a:rPr dirty="0"/>
              <a:t> </a:t>
            </a:r>
            <a:r>
              <a:rPr dirty="0" err="1"/>
              <a:t>im</a:t>
            </a:r>
            <a:r>
              <a:rPr dirty="0"/>
              <a:t> </a:t>
            </a:r>
            <a:r>
              <a:rPr dirty="0" err="1"/>
              <a:t>Klartext</a:t>
            </a:r>
            <a:endParaRPr dirty="0"/>
          </a:p>
          <a:p>
            <a:pPr marL="0" indent="0">
              <a:buNone/>
            </a:pPr>
            <a:r>
              <a:rPr dirty="0"/>
              <a:t>• Leicht </a:t>
            </a:r>
            <a:r>
              <a:rPr dirty="0" err="1"/>
              <a:t>mitzulesen</a:t>
            </a:r>
            <a:endParaRPr dirty="0"/>
          </a:p>
          <a:p>
            <a:pPr marL="0" indent="0">
              <a:buNone/>
            </a:pPr>
            <a:endParaRPr dirty="0"/>
          </a:p>
          <a:p>
            <a:pPr marL="0" indent="0">
              <a:buNone/>
            </a:pPr>
            <a:r>
              <a:rPr dirty="0"/>
              <a:t>HTTPS:</a:t>
            </a:r>
          </a:p>
          <a:p>
            <a:pPr marL="0" indent="0">
              <a:buNone/>
            </a:pPr>
            <a:r>
              <a:rPr dirty="0"/>
              <a:t>• </a:t>
            </a:r>
            <a:r>
              <a:rPr dirty="0" err="1"/>
              <a:t>Verschlüsselte</a:t>
            </a:r>
            <a:r>
              <a:rPr dirty="0"/>
              <a:t> </a:t>
            </a:r>
            <a:r>
              <a:rPr dirty="0" err="1"/>
              <a:t>Verbindung</a:t>
            </a:r>
            <a:endParaRPr dirty="0"/>
          </a:p>
          <a:p>
            <a:pPr marL="0" indent="0">
              <a:buNone/>
            </a:pPr>
            <a:r>
              <a:rPr dirty="0"/>
              <a:t>• </a:t>
            </a:r>
            <a:r>
              <a:rPr dirty="0" err="1"/>
              <a:t>Nutzung</a:t>
            </a:r>
            <a:r>
              <a:rPr dirty="0"/>
              <a:t> von TLS</a:t>
            </a:r>
          </a:p>
          <a:p>
            <a:pPr marL="0" indent="0">
              <a:buNone/>
            </a:pPr>
            <a:r>
              <a:rPr dirty="0"/>
              <a:t>• Schutz der </a:t>
            </a:r>
            <a:r>
              <a:rPr dirty="0" err="1"/>
              <a:t>übertragenen</a:t>
            </a:r>
            <a:r>
              <a:rPr dirty="0"/>
              <a:t> </a:t>
            </a:r>
            <a:r>
              <a:rPr dirty="0" err="1"/>
              <a:t>Daten</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Was </a:t>
            </a:r>
            <a:r>
              <a:rPr dirty="0" err="1"/>
              <a:t>ist</a:t>
            </a:r>
            <a:r>
              <a:rPr dirty="0"/>
              <a:t> SSL / TLS?</a:t>
            </a:r>
          </a:p>
        </p:txBody>
      </p:sp>
      <p:sp>
        <p:nvSpPr>
          <p:cNvPr id="3" name="Content Placeholder 2"/>
          <p:cNvSpPr>
            <a:spLocks noGrp="1"/>
          </p:cNvSpPr>
          <p:nvPr>
            <p:ph idx="1"/>
          </p:nvPr>
        </p:nvSpPr>
        <p:spPr/>
        <p:txBody>
          <a:bodyPr/>
          <a:lstStyle/>
          <a:p>
            <a:pPr marL="0" indent="0">
              <a:buNone/>
            </a:pPr>
            <a:r>
              <a:rPr dirty="0"/>
              <a:t>• SSL = Secure Sockets Layer (</a:t>
            </a:r>
            <a:r>
              <a:rPr dirty="0" err="1"/>
              <a:t>veraltet</a:t>
            </a:r>
            <a:r>
              <a:rPr dirty="0"/>
              <a:t>)</a:t>
            </a:r>
          </a:p>
          <a:p>
            <a:pPr marL="0" indent="0">
              <a:buNone/>
            </a:pPr>
            <a:r>
              <a:rPr dirty="0"/>
              <a:t>• TLS = Transport Layer Security</a:t>
            </a:r>
          </a:p>
          <a:p>
            <a:pPr marL="0" indent="0">
              <a:buNone/>
            </a:pPr>
            <a:r>
              <a:rPr dirty="0"/>
              <a:t>• Standard für </a:t>
            </a:r>
            <a:r>
              <a:rPr dirty="0" err="1"/>
              <a:t>sichere</a:t>
            </a:r>
            <a:r>
              <a:rPr dirty="0"/>
              <a:t> </a:t>
            </a:r>
            <a:r>
              <a:rPr dirty="0" err="1"/>
              <a:t>Webverbindungen</a:t>
            </a:r>
            <a:endParaRPr dirty="0"/>
          </a:p>
          <a:p>
            <a:pPr marL="0" indent="0">
              <a:buNone/>
            </a:pPr>
            <a:r>
              <a:rPr dirty="0"/>
              <a:t>• </a:t>
            </a:r>
            <a:r>
              <a:rPr dirty="0" err="1"/>
              <a:t>Kombination</a:t>
            </a:r>
            <a:r>
              <a:rPr dirty="0"/>
              <a:t> </a:t>
            </a:r>
            <a:r>
              <a:rPr dirty="0" err="1"/>
              <a:t>aus</a:t>
            </a:r>
            <a:r>
              <a:rPr dirty="0"/>
              <a:t> </a:t>
            </a:r>
            <a:r>
              <a:rPr dirty="0" err="1"/>
              <a:t>Verschlüsselung</a:t>
            </a:r>
            <a:r>
              <a:rPr dirty="0"/>
              <a:t> und </a:t>
            </a:r>
            <a:r>
              <a:rPr dirty="0" err="1"/>
              <a:t>Authentifizierung</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Verschlüsselung</a:t>
            </a:r>
            <a:endParaRPr dirty="0"/>
          </a:p>
        </p:txBody>
      </p:sp>
      <p:sp>
        <p:nvSpPr>
          <p:cNvPr id="3" name="Content Placeholder 2"/>
          <p:cNvSpPr>
            <a:spLocks noGrp="1"/>
          </p:cNvSpPr>
          <p:nvPr>
            <p:ph idx="1"/>
          </p:nvPr>
        </p:nvSpPr>
        <p:spPr/>
        <p:txBody>
          <a:bodyPr/>
          <a:lstStyle/>
          <a:p>
            <a:pPr marL="0" indent="0">
              <a:buNone/>
            </a:pPr>
            <a:r>
              <a:rPr dirty="0" err="1"/>
              <a:t>Asymmetrische</a:t>
            </a:r>
            <a:r>
              <a:rPr dirty="0"/>
              <a:t> </a:t>
            </a:r>
            <a:r>
              <a:rPr dirty="0" err="1"/>
              <a:t>Verschlüsselung</a:t>
            </a:r>
            <a:r>
              <a:rPr dirty="0"/>
              <a:t>:</a:t>
            </a:r>
          </a:p>
          <a:p>
            <a:pPr marL="0" indent="0">
              <a:buNone/>
            </a:pPr>
            <a:r>
              <a:rPr dirty="0"/>
              <a:t>• Public Key / Private Key</a:t>
            </a:r>
          </a:p>
          <a:p>
            <a:pPr marL="0" indent="0">
              <a:buNone/>
            </a:pPr>
            <a:endParaRPr dirty="0"/>
          </a:p>
          <a:p>
            <a:pPr marL="0" indent="0">
              <a:buNone/>
            </a:pPr>
            <a:r>
              <a:rPr dirty="0" err="1"/>
              <a:t>Symmetrische</a:t>
            </a:r>
            <a:r>
              <a:rPr dirty="0"/>
              <a:t> </a:t>
            </a:r>
            <a:r>
              <a:rPr dirty="0" err="1"/>
              <a:t>Verschlüsselung</a:t>
            </a:r>
            <a:r>
              <a:rPr dirty="0"/>
              <a:t>:</a:t>
            </a:r>
          </a:p>
          <a:p>
            <a:pPr marL="0" indent="0">
              <a:buNone/>
            </a:pPr>
            <a:r>
              <a:rPr dirty="0"/>
              <a:t>• </a:t>
            </a:r>
            <a:r>
              <a:rPr dirty="0" err="1"/>
              <a:t>Gemeinsamer</a:t>
            </a:r>
            <a:r>
              <a:rPr dirty="0"/>
              <a:t> </a:t>
            </a:r>
            <a:r>
              <a:rPr dirty="0" err="1"/>
              <a:t>Sitzungsschlüssel</a:t>
            </a:r>
            <a:endParaRPr dirty="0"/>
          </a:p>
          <a:p>
            <a:pPr marL="0" indent="0">
              <a:buNone/>
            </a:pPr>
            <a:r>
              <a:rPr dirty="0"/>
              <a:t>• Schnell und </a:t>
            </a:r>
            <a:r>
              <a:rPr dirty="0" err="1"/>
              <a:t>effizient</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a:t>Zertifikate &amp; Zertifizierungsstellen</a:t>
            </a:r>
          </a:p>
        </p:txBody>
      </p:sp>
      <p:sp>
        <p:nvSpPr>
          <p:cNvPr id="3" name="Content Placeholder 2"/>
          <p:cNvSpPr>
            <a:spLocks noGrp="1"/>
          </p:cNvSpPr>
          <p:nvPr>
            <p:ph idx="1"/>
          </p:nvPr>
        </p:nvSpPr>
        <p:spPr/>
        <p:txBody>
          <a:bodyPr/>
          <a:lstStyle/>
          <a:p>
            <a:pPr marL="0" indent="0">
              <a:buNone/>
            </a:pPr>
            <a:r>
              <a:rPr dirty="0"/>
              <a:t>• </a:t>
            </a:r>
            <a:r>
              <a:rPr dirty="0" err="1"/>
              <a:t>Zertifikat</a:t>
            </a:r>
            <a:r>
              <a:rPr dirty="0"/>
              <a:t> </a:t>
            </a:r>
            <a:r>
              <a:rPr dirty="0" err="1"/>
              <a:t>bestätigt</a:t>
            </a:r>
            <a:r>
              <a:rPr dirty="0"/>
              <a:t> </a:t>
            </a:r>
            <a:r>
              <a:rPr dirty="0" err="1"/>
              <a:t>Identität</a:t>
            </a:r>
            <a:r>
              <a:rPr dirty="0"/>
              <a:t> </a:t>
            </a:r>
            <a:r>
              <a:rPr dirty="0" err="1"/>
              <a:t>eines</a:t>
            </a:r>
            <a:r>
              <a:rPr dirty="0"/>
              <a:t> Servers</a:t>
            </a:r>
          </a:p>
          <a:p>
            <a:pPr marL="0" indent="0">
              <a:buNone/>
            </a:pPr>
            <a:r>
              <a:rPr dirty="0"/>
              <a:t>• </a:t>
            </a:r>
            <a:r>
              <a:rPr dirty="0" err="1"/>
              <a:t>Enthält</a:t>
            </a:r>
            <a:r>
              <a:rPr dirty="0"/>
              <a:t> Public Key</a:t>
            </a:r>
          </a:p>
          <a:p>
            <a:pPr marL="0" indent="0">
              <a:buNone/>
            </a:pPr>
            <a:r>
              <a:rPr dirty="0"/>
              <a:t>• </a:t>
            </a:r>
            <a:r>
              <a:rPr dirty="0" err="1"/>
              <a:t>Ausgestellt</a:t>
            </a:r>
            <a:r>
              <a:rPr dirty="0"/>
              <a:t> von </a:t>
            </a:r>
            <a:r>
              <a:rPr dirty="0" err="1"/>
              <a:t>Zertifizierungsstellen</a:t>
            </a:r>
            <a:r>
              <a:rPr dirty="0"/>
              <a:t> (CA)</a:t>
            </a:r>
          </a:p>
          <a:p>
            <a:pPr marL="0" indent="0">
              <a:buNone/>
            </a:pPr>
            <a:r>
              <a:rPr dirty="0"/>
              <a:t>• Browser </a:t>
            </a:r>
            <a:r>
              <a:rPr dirty="0" err="1"/>
              <a:t>prüfen</a:t>
            </a:r>
            <a:r>
              <a:rPr dirty="0"/>
              <a:t> die </a:t>
            </a:r>
            <a:r>
              <a:rPr dirty="0" err="1"/>
              <a:t>Vertrauenskette</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TLS-Handshake (</a:t>
            </a:r>
            <a:r>
              <a:rPr dirty="0" err="1"/>
              <a:t>vereinfacht</a:t>
            </a:r>
            <a:r>
              <a:rPr dirty="0"/>
              <a:t>)</a:t>
            </a:r>
          </a:p>
        </p:txBody>
      </p:sp>
      <p:sp>
        <p:nvSpPr>
          <p:cNvPr id="3" name="Content Placeholder 2"/>
          <p:cNvSpPr>
            <a:spLocks noGrp="1"/>
          </p:cNvSpPr>
          <p:nvPr>
            <p:ph idx="1"/>
          </p:nvPr>
        </p:nvSpPr>
        <p:spPr/>
        <p:txBody>
          <a:bodyPr/>
          <a:lstStyle/>
          <a:p>
            <a:pPr marL="0" indent="0">
              <a:buNone/>
            </a:pPr>
            <a:r>
              <a:rPr dirty="0"/>
              <a:t>1. Client Hello</a:t>
            </a:r>
          </a:p>
          <a:p>
            <a:pPr marL="0" indent="0">
              <a:buNone/>
            </a:pPr>
            <a:r>
              <a:rPr dirty="0"/>
              <a:t>2. Server </a:t>
            </a:r>
            <a:r>
              <a:rPr dirty="0" err="1"/>
              <a:t>sendet</a:t>
            </a:r>
            <a:r>
              <a:rPr dirty="0"/>
              <a:t> </a:t>
            </a:r>
            <a:r>
              <a:rPr dirty="0" err="1"/>
              <a:t>Zertifikat</a:t>
            </a:r>
            <a:endParaRPr dirty="0"/>
          </a:p>
          <a:p>
            <a:pPr marL="0" indent="0">
              <a:buNone/>
            </a:pPr>
            <a:r>
              <a:rPr dirty="0"/>
              <a:t>3. </a:t>
            </a:r>
            <a:r>
              <a:rPr dirty="0" err="1"/>
              <a:t>Überprüfung</a:t>
            </a:r>
            <a:r>
              <a:rPr dirty="0"/>
              <a:t> </a:t>
            </a:r>
            <a:r>
              <a:rPr dirty="0" err="1"/>
              <a:t>durch</a:t>
            </a:r>
            <a:r>
              <a:rPr dirty="0"/>
              <a:t> den Client</a:t>
            </a:r>
          </a:p>
          <a:p>
            <a:pPr marL="0" indent="0">
              <a:buNone/>
            </a:pPr>
            <a:r>
              <a:rPr dirty="0"/>
              <a:t>4. </a:t>
            </a:r>
            <a:r>
              <a:rPr dirty="0" err="1"/>
              <a:t>Schlüsselaustausch</a:t>
            </a:r>
            <a:endParaRPr dirty="0"/>
          </a:p>
          <a:p>
            <a:pPr marL="0" indent="0">
              <a:buNone/>
            </a:pPr>
            <a:r>
              <a:rPr dirty="0"/>
              <a:t>5. </a:t>
            </a:r>
            <a:r>
              <a:rPr dirty="0" err="1"/>
              <a:t>Verschlüsselte</a:t>
            </a:r>
            <a:r>
              <a:rPr dirty="0"/>
              <a:t> </a:t>
            </a:r>
            <a:r>
              <a:rPr dirty="0" err="1"/>
              <a:t>Kommunikation</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Was </a:t>
            </a:r>
            <a:r>
              <a:rPr dirty="0" err="1"/>
              <a:t>schützt</a:t>
            </a:r>
            <a:r>
              <a:rPr dirty="0"/>
              <a:t> HTTPS?</a:t>
            </a:r>
          </a:p>
        </p:txBody>
      </p:sp>
      <p:sp>
        <p:nvSpPr>
          <p:cNvPr id="3" name="Content Placeholder 2"/>
          <p:cNvSpPr>
            <a:spLocks noGrp="1"/>
          </p:cNvSpPr>
          <p:nvPr>
            <p:ph idx="1"/>
          </p:nvPr>
        </p:nvSpPr>
        <p:spPr/>
        <p:txBody>
          <a:bodyPr/>
          <a:lstStyle/>
          <a:p>
            <a:pPr marL="0" indent="0">
              <a:buNone/>
            </a:pPr>
            <a:r>
              <a:rPr dirty="0"/>
              <a:t>• </a:t>
            </a:r>
            <a:r>
              <a:rPr dirty="0" err="1"/>
              <a:t>Passwörter</a:t>
            </a:r>
            <a:endParaRPr dirty="0"/>
          </a:p>
          <a:p>
            <a:pPr marL="0" indent="0">
              <a:buNone/>
            </a:pPr>
            <a:r>
              <a:rPr dirty="0"/>
              <a:t>• </a:t>
            </a:r>
            <a:r>
              <a:rPr dirty="0" err="1"/>
              <a:t>Formulardaten</a:t>
            </a:r>
            <a:endParaRPr dirty="0"/>
          </a:p>
          <a:p>
            <a:pPr marL="0" indent="0">
              <a:buNone/>
            </a:pPr>
            <a:r>
              <a:rPr dirty="0"/>
              <a:t>• Cookies und </a:t>
            </a:r>
            <a:r>
              <a:rPr dirty="0" err="1"/>
              <a:t>Sitzungen</a:t>
            </a:r>
            <a:endParaRPr dirty="0"/>
          </a:p>
          <a:p>
            <a:pPr marL="0" indent="0">
              <a:buNone/>
            </a:pPr>
            <a:r>
              <a:rPr dirty="0"/>
              <a:t>• Schutz </a:t>
            </a:r>
            <a:r>
              <a:rPr dirty="0" err="1"/>
              <a:t>vor</a:t>
            </a:r>
            <a:r>
              <a:rPr dirty="0"/>
              <a:t> </a:t>
            </a:r>
            <a:r>
              <a:rPr dirty="0" err="1"/>
              <a:t>Mitlesen</a:t>
            </a:r>
            <a:r>
              <a:rPr dirty="0"/>
              <a:t> und Manipulation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Gefahren</a:t>
            </a:r>
            <a:r>
              <a:rPr dirty="0"/>
              <a:t> </a:t>
            </a:r>
            <a:r>
              <a:rPr dirty="0" err="1"/>
              <a:t>ohne</a:t>
            </a:r>
            <a:r>
              <a:rPr dirty="0"/>
              <a:t> HTTPS</a:t>
            </a:r>
          </a:p>
        </p:txBody>
      </p:sp>
      <p:sp>
        <p:nvSpPr>
          <p:cNvPr id="3" name="Content Placeholder 2"/>
          <p:cNvSpPr>
            <a:spLocks noGrp="1"/>
          </p:cNvSpPr>
          <p:nvPr>
            <p:ph idx="1"/>
          </p:nvPr>
        </p:nvSpPr>
        <p:spPr/>
        <p:txBody>
          <a:bodyPr/>
          <a:lstStyle/>
          <a:p>
            <a:pPr marL="0" indent="0">
              <a:buNone/>
            </a:pPr>
            <a:r>
              <a:rPr dirty="0"/>
              <a:t>• Man-in-the-Middle-</a:t>
            </a:r>
            <a:r>
              <a:rPr dirty="0" err="1"/>
              <a:t>Angriffe</a:t>
            </a:r>
            <a:endParaRPr dirty="0"/>
          </a:p>
          <a:p>
            <a:pPr marL="0" indent="0">
              <a:buNone/>
            </a:pPr>
            <a:r>
              <a:rPr dirty="0"/>
              <a:t>• </a:t>
            </a:r>
            <a:r>
              <a:rPr dirty="0" err="1"/>
              <a:t>Mitlesen</a:t>
            </a:r>
            <a:r>
              <a:rPr dirty="0"/>
              <a:t> </a:t>
            </a:r>
            <a:r>
              <a:rPr dirty="0" err="1"/>
              <a:t>im</a:t>
            </a:r>
            <a:r>
              <a:rPr dirty="0"/>
              <a:t> </a:t>
            </a:r>
            <a:r>
              <a:rPr dirty="0" err="1"/>
              <a:t>öffentlichen</a:t>
            </a:r>
            <a:r>
              <a:rPr dirty="0"/>
              <a:t> WLAN</a:t>
            </a:r>
          </a:p>
          <a:p>
            <a:pPr marL="0" indent="0">
              <a:buNone/>
            </a:pPr>
            <a:r>
              <a:rPr dirty="0"/>
              <a:t>• Manipulation von Inhalten</a:t>
            </a:r>
          </a:p>
          <a:p>
            <a:pPr marL="0" indent="0">
              <a:buNone/>
            </a:pPr>
            <a:r>
              <a:rPr dirty="0"/>
              <a:t>• </a:t>
            </a:r>
            <a:r>
              <a:rPr dirty="0" err="1"/>
              <a:t>Identitätsdiebstahl</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Grenzen</a:t>
            </a:r>
            <a:r>
              <a:rPr dirty="0"/>
              <a:t> von HTTPS</a:t>
            </a:r>
          </a:p>
        </p:txBody>
      </p:sp>
      <p:sp>
        <p:nvSpPr>
          <p:cNvPr id="3" name="Content Placeholder 2"/>
          <p:cNvSpPr>
            <a:spLocks noGrp="1"/>
          </p:cNvSpPr>
          <p:nvPr>
            <p:ph idx="1"/>
          </p:nvPr>
        </p:nvSpPr>
        <p:spPr/>
        <p:txBody>
          <a:bodyPr/>
          <a:lstStyle/>
          <a:p>
            <a:pPr marL="0" indent="0">
              <a:buNone/>
            </a:pPr>
            <a:r>
              <a:rPr dirty="0"/>
              <a:t>• Kein Schutz </a:t>
            </a:r>
            <a:r>
              <a:rPr dirty="0" err="1"/>
              <a:t>vor</a:t>
            </a:r>
            <a:r>
              <a:rPr dirty="0"/>
              <a:t> </a:t>
            </a:r>
            <a:r>
              <a:rPr dirty="0" err="1"/>
              <a:t>schlechten</a:t>
            </a:r>
            <a:r>
              <a:rPr dirty="0"/>
              <a:t> </a:t>
            </a:r>
            <a:r>
              <a:rPr dirty="0" err="1"/>
              <a:t>Passwörtern</a:t>
            </a:r>
            <a:endParaRPr dirty="0"/>
          </a:p>
          <a:p>
            <a:pPr marL="0" indent="0">
              <a:buNone/>
            </a:pPr>
            <a:r>
              <a:rPr dirty="0"/>
              <a:t>• Kein Schutz </a:t>
            </a:r>
            <a:r>
              <a:rPr dirty="0" err="1"/>
              <a:t>vor</a:t>
            </a:r>
            <a:r>
              <a:rPr dirty="0"/>
              <a:t> </a:t>
            </a:r>
            <a:r>
              <a:rPr dirty="0" err="1"/>
              <a:t>Programmierfehlern</a:t>
            </a:r>
            <a:endParaRPr dirty="0"/>
          </a:p>
          <a:p>
            <a:pPr marL="0" indent="0">
              <a:buNone/>
            </a:pPr>
            <a:r>
              <a:rPr dirty="0"/>
              <a:t>• Kein Schutz </a:t>
            </a:r>
            <a:r>
              <a:rPr dirty="0" err="1"/>
              <a:t>vor</a:t>
            </a:r>
            <a:r>
              <a:rPr dirty="0"/>
              <a:t> Social Engineering</a:t>
            </a:r>
          </a:p>
          <a:p>
            <a:pPr marL="0" indent="0">
              <a:buNone/>
            </a:pPr>
            <a:r>
              <a:rPr dirty="0"/>
              <a:t>• Nur </a:t>
            </a:r>
            <a:r>
              <a:rPr dirty="0" err="1"/>
              <a:t>ein</a:t>
            </a:r>
            <a:r>
              <a:rPr dirty="0"/>
              <a:t> Teil der </a:t>
            </a:r>
            <a:r>
              <a:rPr dirty="0" err="1"/>
              <a:t>Gesamtsicherheit</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Umsetzung</a:t>
            </a:r>
            <a:r>
              <a:rPr dirty="0"/>
              <a:t> </a:t>
            </a:r>
            <a:r>
              <a:rPr dirty="0" err="1"/>
              <a:t>im</a:t>
            </a:r>
            <a:r>
              <a:rPr dirty="0"/>
              <a:t> Projekt</a:t>
            </a:r>
          </a:p>
        </p:txBody>
      </p:sp>
      <p:sp>
        <p:nvSpPr>
          <p:cNvPr id="3" name="Content Placeholder 2"/>
          <p:cNvSpPr>
            <a:spLocks noGrp="1"/>
          </p:cNvSpPr>
          <p:nvPr>
            <p:ph idx="1"/>
          </p:nvPr>
        </p:nvSpPr>
        <p:spPr/>
        <p:txBody>
          <a:bodyPr/>
          <a:lstStyle/>
          <a:p>
            <a:pPr marL="0" indent="0">
              <a:buNone/>
            </a:pPr>
            <a:r>
              <a:rPr dirty="0"/>
              <a:t>• </a:t>
            </a:r>
            <a:r>
              <a:rPr dirty="0" err="1"/>
              <a:t>Einsatz</a:t>
            </a:r>
            <a:r>
              <a:rPr dirty="0"/>
              <a:t> von HTTPS für </a:t>
            </a:r>
            <a:r>
              <a:rPr dirty="0" err="1"/>
              <a:t>sichere</a:t>
            </a:r>
            <a:r>
              <a:rPr dirty="0"/>
              <a:t> </a:t>
            </a:r>
            <a:r>
              <a:rPr dirty="0" err="1"/>
              <a:t>Kommunikation</a:t>
            </a:r>
            <a:endParaRPr dirty="0"/>
          </a:p>
          <a:p>
            <a:pPr marL="0" indent="0">
              <a:buNone/>
            </a:pPr>
            <a:r>
              <a:rPr dirty="0"/>
              <a:t>• </a:t>
            </a:r>
            <a:r>
              <a:rPr dirty="0" err="1"/>
              <a:t>Verwendung</a:t>
            </a:r>
            <a:r>
              <a:rPr dirty="0"/>
              <a:t> von SSL/TLS-</a:t>
            </a:r>
            <a:r>
              <a:rPr dirty="0" err="1"/>
              <a:t>Zertifikaten</a:t>
            </a:r>
            <a:endParaRPr dirty="0"/>
          </a:p>
          <a:p>
            <a:pPr marL="0" indent="0">
              <a:buNone/>
            </a:pPr>
            <a:r>
              <a:rPr dirty="0"/>
              <a:t>• </a:t>
            </a:r>
            <a:r>
              <a:rPr dirty="0" err="1"/>
              <a:t>Vermeidung</a:t>
            </a:r>
            <a:r>
              <a:rPr dirty="0"/>
              <a:t> von Man-in-the-Middle-</a:t>
            </a:r>
            <a:r>
              <a:rPr dirty="0" err="1"/>
              <a:t>Angriffen</a:t>
            </a:r>
            <a:endParaRPr dirty="0"/>
          </a:p>
          <a:p>
            <a:pPr marL="0" indent="0">
              <a:buNone/>
            </a:pPr>
            <a:r>
              <a:rPr dirty="0"/>
              <a:t>• </a:t>
            </a:r>
            <a:r>
              <a:rPr dirty="0" err="1"/>
              <a:t>Orientierung</a:t>
            </a:r>
            <a:r>
              <a:rPr dirty="0"/>
              <a:t> an </a:t>
            </a:r>
            <a:r>
              <a:rPr dirty="0" err="1"/>
              <a:t>aktuellen</a:t>
            </a:r>
            <a:r>
              <a:rPr dirty="0"/>
              <a:t> Web-</a:t>
            </a:r>
            <a:r>
              <a:rPr dirty="0" err="1"/>
              <a:t>Sicherheitsstandards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Fazit</a:t>
            </a:r>
            <a:endParaRPr dirty="0"/>
          </a:p>
        </p:txBody>
      </p:sp>
      <p:sp>
        <p:nvSpPr>
          <p:cNvPr id="3" name="Content Placeholder 2"/>
          <p:cNvSpPr>
            <a:spLocks noGrp="1"/>
          </p:cNvSpPr>
          <p:nvPr>
            <p:ph idx="1"/>
          </p:nvPr>
        </p:nvSpPr>
        <p:spPr/>
        <p:txBody>
          <a:bodyPr/>
          <a:lstStyle/>
          <a:p>
            <a:pPr marL="0" indent="0">
              <a:buNone/>
            </a:pPr>
            <a:r>
              <a:rPr dirty="0"/>
              <a:t>• HTTPS </a:t>
            </a:r>
            <a:r>
              <a:rPr dirty="0" err="1"/>
              <a:t>ist</a:t>
            </a:r>
            <a:r>
              <a:rPr dirty="0"/>
              <a:t> </a:t>
            </a:r>
            <a:r>
              <a:rPr dirty="0" err="1"/>
              <a:t>heute</a:t>
            </a:r>
            <a:r>
              <a:rPr dirty="0"/>
              <a:t> </a:t>
            </a:r>
            <a:r>
              <a:rPr dirty="0" err="1"/>
              <a:t>Pflicht</a:t>
            </a:r>
            <a:endParaRPr dirty="0"/>
          </a:p>
          <a:p>
            <a:pPr marL="0" indent="0">
              <a:buNone/>
            </a:pPr>
            <a:r>
              <a:rPr dirty="0"/>
              <a:t>• TLS </a:t>
            </a:r>
            <a:r>
              <a:rPr dirty="0" err="1"/>
              <a:t>schützt</a:t>
            </a:r>
            <a:r>
              <a:rPr dirty="0"/>
              <a:t> </a:t>
            </a:r>
            <a:r>
              <a:rPr dirty="0" err="1"/>
              <a:t>Vertraulichkeit</a:t>
            </a:r>
            <a:r>
              <a:rPr dirty="0"/>
              <a:t> und </a:t>
            </a:r>
            <a:r>
              <a:rPr dirty="0" err="1"/>
              <a:t>Integrität</a:t>
            </a:r>
            <a:endParaRPr dirty="0"/>
          </a:p>
          <a:p>
            <a:pPr marL="0" indent="0">
              <a:buNone/>
            </a:pPr>
            <a:r>
              <a:rPr dirty="0"/>
              <a:t>• Sicherheit </a:t>
            </a:r>
            <a:r>
              <a:rPr dirty="0" err="1"/>
              <a:t>besteht</a:t>
            </a:r>
            <a:r>
              <a:rPr dirty="0"/>
              <a:t> </a:t>
            </a:r>
            <a:r>
              <a:rPr dirty="0" err="1"/>
              <a:t>aus</a:t>
            </a:r>
            <a:r>
              <a:rPr dirty="0"/>
              <a:t> </a:t>
            </a:r>
            <a:r>
              <a:rPr dirty="0" err="1"/>
              <a:t>mehreren</a:t>
            </a:r>
            <a:r>
              <a:rPr dirty="0"/>
              <a:t> </a:t>
            </a:r>
            <a:r>
              <a:rPr dirty="0" err="1"/>
              <a:t>Ebenen</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2866</Words>
  <Application>Microsoft Office PowerPoint</Application>
  <PresentationFormat>Breitbild</PresentationFormat>
  <Paragraphs>150</Paragraphs>
  <Slides>13</Slides>
  <Notes>12</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13</vt:i4>
      </vt:variant>
    </vt:vector>
  </HeadingPairs>
  <TitlesOfParts>
    <vt:vector size="17" baseType="lpstr">
      <vt:lpstr>Aptos</vt:lpstr>
      <vt:lpstr>Arial</vt:lpstr>
      <vt:lpstr>Calibri</vt:lpstr>
      <vt:lpstr>Office Theme</vt:lpstr>
      <vt:lpstr>Netzwerk &amp; SSL/TLS</vt:lpstr>
      <vt:lpstr>Inhalt</vt:lpstr>
      <vt:lpstr>Netzwerkgrundlagen</vt:lpstr>
      <vt:lpstr>HTTP vs HTTPS</vt:lpstr>
      <vt:lpstr>Was ist SSL / TLS?</vt:lpstr>
      <vt:lpstr>Verschlüsselung</vt:lpstr>
      <vt:lpstr>Zertifikate &amp; Zertifizierungsstellen</vt:lpstr>
      <vt:lpstr>TLS-Handshake (vereinfacht)</vt:lpstr>
      <vt:lpstr>Was schützt HTTPS?</vt:lpstr>
      <vt:lpstr>Gefahren ohne HTTPS</vt:lpstr>
      <vt:lpstr>Grenzen von HTTPS</vt:lpstr>
      <vt:lpstr>Umsetzung im Projekt</vt:lpstr>
      <vt:lpstr>Fazit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Nicolas Ammeter</dc:creator>
  <cp:keywords/>
  <dc:description>generated using python-pptx</dc:description>
  <cp:lastModifiedBy>Nicolas Ammeter</cp:lastModifiedBy>
  <cp:revision>3</cp:revision>
  <dcterms:created xsi:type="dcterms:W3CDTF">2013-01-27T09:14:16Z</dcterms:created>
  <dcterms:modified xsi:type="dcterms:W3CDTF">2025-12-18T08:21:05Z</dcterms:modified>
  <cp:category/>
</cp:coreProperties>
</file>