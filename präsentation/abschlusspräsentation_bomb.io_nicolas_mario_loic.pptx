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68" r:id="rId3"/>
    <p:sldId id="257" r:id="rId4"/>
    <p:sldId id="258" r:id="rId5"/>
    <p:sldId id="259" r:id="rId6"/>
    <p:sldId id="260" r:id="rId7"/>
    <p:sldId id="261" r:id="rId8"/>
    <p:sldId id="262" r:id="rId9"/>
    <p:sldId id="264" r:id="rId10"/>
    <p:sldId id="265" r:id="rId11"/>
    <p:sldId id="26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2" d="100"/>
          <a:sy n="102" d="100"/>
        </p:scale>
        <p:origin x="256" y="288"/>
      </p:cViewPr>
      <p:guideLst>
        <p:guide orient="horz" pos="2160"/>
        <p:guide pos="3840"/>
      </p:guideLst>
    </p:cSldViewPr>
  </p:slideViewPr>
  <p:notesTextViewPr>
    <p:cViewPr>
      <p:scale>
        <a:sx n="100" d="100"/>
        <a:sy n="100" d="100"/>
      </p:scale>
      <p:origin x="0" y="-70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3A46401-9850-4500-A05D-F050A3FB8292}"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057E6E52-0E01-4CA7-8972-1874D49C4ECD}">
      <dgm:prSet/>
      <dgm:spPr/>
      <dgm:t>
        <a:bodyPr/>
        <a:lstStyle/>
        <a:p>
          <a:r>
            <a:rPr lang="de-CH"/>
            <a:t>Ausgangslage und Problemstellung</a:t>
          </a:r>
          <a:endParaRPr lang="en-US"/>
        </a:p>
      </dgm:t>
    </dgm:pt>
    <dgm:pt modelId="{5CE013DA-1784-4BBF-82D3-BEF847AF001F}" type="parTrans" cxnId="{17B0349C-8E8F-4166-A735-8C47DA2018C2}">
      <dgm:prSet/>
      <dgm:spPr/>
      <dgm:t>
        <a:bodyPr/>
        <a:lstStyle/>
        <a:p>
          <a:endParaRPr lang="en-US"/>
        </a:p>
      </dgm:t>
    </dgm:pt>
    <dgm:pt modelId="{83CD2534-8FE9-4ABC-98D7-765593C99657}" type="sibTrans" cxnId="{17B0349C-8E8F-4166-A735-8C47DA2018C2}">
      <dgm:prSet/>
      <dgm:spPr/>
      <dgm:t>
        <a:bodyPr/>
        <a:lstStyle/>
        <a:p>
          <a:endParaRPr lang="en-US"/>
        </a:p>
      </dgm:t>
    </dgm:pt>
    <dgm:pt modelId="{6465AF01-9B3E-486D-8CF6-9A9B381076BE}">
      <dgm:prSet/>
      <dgm:spPr/>
      <dgm:t>
        <a:bodyPr/>
        <a:lstStyle/>
        <a:p>
          <a:r>
            <a:rPr lang="de-CH"/>
            <a:t>Zielsetzung und Abgrenzung</a:t>
          </a:r>
          <a:endParaRPr lang="en-US"/>
        </a:p>
      </dgm:t>
    </dgm:pt>
    <dgm:pt modelId="{908B1E60-8ECB-4C75-B7CE-13E168C35CA0}" type="parTrans" cxnId="{F70D73FF-31AA-4C90-A585-3B3969452C0D}">
      <dgm:prSet/>
      <dgm:spPr/>
      <dgm:t>
        <a:bodyPr/>
        <a:lstStyle/>
        <a:p>
          <a:endParaRPr lang="en-US"/>
        </a:p>
      </dgm:t>
    </dgm:pt>
    <dgm:pt modelId="{710CEE70-B40C-4DB5-AC28-8B6B916BC5E1}" type="sibTrans" cxnId="{F70D73FF-31AA-4C90-A585-3B3969452C0D}">
      <dgm:prSet/>
      <dgm:spPr/>
      <dgm:t>
        <a:bodyPr/>
        <a:lstStyle/>
        <a:p>
          <a:endParaRPr lang="en-US"/>
        </a:p>
      </dgm:t>
    </dgm:pt>
    <dgm:pt modelId="{733C3893-2FA3-46BD-A45A-629A119A52B6}">
      <dgm:prSet/>
      <dgm:spPr/>
      <dgm:t>
        <a:bodyPr/>
        <a:lstStyle/>
        <a:p>
          <a:r>
            <a:rPr lang="de-CH"/>
            <a:t>Gesamtarchitektur</a:t>
          </a:r>
          <a:endParaRPr lang="en-US"/>
        </a:p>
      </dgm:t>
    </dgm:pt>
    <dgm:pt modelId="{CCC1D997-31E3-48C1-9858-3186759E4C92}" type="parTrans" cxnId="{FC22D741-2E1D-4719-BC42-656808957B83}">
      <dgm:prSet/>
      <dgm:spPr/>
      <dgm:t>
        <a:bodyPr/>
        <a:lstStyle/>
        <a:p>
          <a:endParaRPr lang="en-US"/>
        </a:p>
      </dgm:t>
    </dgm:pt>
    <dgm:pt modelId="{82B37A1B-CEC2-4DB3-B89F-28388A3D7B03}" type="sibTrans" cxnId="{FC22D741-2E1D-4719-BC42-656808957B83}">
      <dgm:prSet/>
      <dgm:spPr/>
      <dgm:t>
        <a:bodyPr/>
        <a:lstStyle/>
        <a:p>
          <a:endParaRPr lang="en-US"/>
        </a:p>
      </dgm:t>
    </dgm:pt>
    <dgm:pt modelId="{0090ECAF-AA3B-420F-A37E-EF4A3862DD51}">
      <dgm:prSet/>
      <dgm:spPr/>
      <dgm:t>
        <a:bodyPr/>
        <a:lstStyle/>
        <a:p>
          <a:r>
            <a:rPr lang="de-CH"/>
            <a:t>Technische Umsetzung</a:t>
          </a:r>
          <a:endParaRPr lang="en-US"/>
        </a:p>
      </dgm:t>
    </dgm:pt>
    <dgm:pt modelId="{2964381A-AC2E-46E9-AA8D-B66F26047C6B}" type="parTrans" cxnId="{F350C49F-5F7F-46BD-A575-CA012A2BE8FA}">
      <dgm:prSet/>
      <dgm:spPr/>
      <dgm:t>
        <a:bodyPr/>
        <a:lstStyle/>
        <a:p>
          <a:endParaRPr lang="en-US"/>
        </a:p>
      </dgm:t>
    </dgm:pt>
    <dgm:pt modelId="{44BFD5F8-22FF-4CE2-931E-4A6243B69652}" type="sibTrans" cxnId="{F350C49F-5F7F-46BD-A575-CA012A2BE8FA}">
      <dgm:prSet/>
      <dgm:spPr/>
      <dgm:t>
        <a:bodyPr/>
        <a:lstStyle/>
        <a:p>
          <a:endParaRPr lang="en-US"/>
        </a:p>
      </dgm:t>
    </dgm:pt>
    <dgm:pt modelId="{6F465167-0A91-4D8E-98DE-BD5EE213B9EB}">
      <dgm:prSet/>
      <dgm:spPr/>
      <dgm:t>
        <a:bodyPr/>
        <a:lstStyle/>
        <a:p>
          <a:r>
            <a:rPr lang="de-CH"/>
            <a:t>Herausforderung und Lösungen</a:t>
          </a:r>
          <a:endParaRPr lang="en-US"/>
        </a:p>
      </dgm:t>
    </dgm:pt>
    <dgm:pt modelId="{A89CEBC9-8F84-4E2B-B659-BB9D128B576A}" type="parTrans" cxnId="{46CD3B9D-696C-447D-B223-2B3E1F5F5213}">
      <dgm:prSet/>
      <dgm:spPr/>
      <dgm:t>
        <a:bodyPr/>
        <a:lstStyle/>
        <a:p>
          <a:endParaRPr lang="en-US"/>
        </a:p>
      </dgm:t>
    </dgm:pt>
    <dgm:pt modelId="{EC98B2C9-8291-4C27-89B6-0C2970FC3787}" type="sibTrans" cxnId="{46CD3B9D-696C-447D-B223-2B3E1F5F5213}">
      <dgm:prSet/>
      <dgm:spPr/>
      <dgm:t>
        <a:bodyPr/>
        <a:lstStyle/>
        <a:p>
          <a:endParaRPr lang="en-US"/>
        </a:p>
      </dgm:t>
    </dgm:pt>
    <dgm:pt modelId="{B315D386-5CFF-4A24-A023-293B5C160DD1}">
      <dgm:prSet/>
      <dgm:spPr/>
      <dgm:t>
        <a:bodyPr/>
        <a:lstStyle/>
        <a:p>
          <a:r>
            <a:rPr lang="de-CH"/>
            <a:t>Live Demo</a:t>
          </a:r>
          <a:endParaRPr lang="en-US"/>
        </a:p>
      </dgm:t>
    </dgm:pt>
    <dgm:pt modelId="{5374295D-9100-4163-9ADF-B73730F38816}" type="parTrans" cxnId="{46162F2E-4AC5-4365-8981-F5C95A64C400}">
      <dgm:prSet/>
      <dgm:spPr/>
      <dgm:t>
        <a:bodyPr/>
        <a:lstStyle/>
        <a:p>
          <a:endParaRPr lang="en-US"/>
        </a:p>
      </dgm:t>
    </dgm:pt>
    <dgm:pt modelId="{578069E4-148B-4658-B651-684BD06B62E1}" type="sibTrans" cxnId="{46162F2E-4AC5-4365-8981-F5C95A64C400}">
      <dgm:prSet/>
      <dgm:spPr/>
      <dgm:t>
        <a:bodyPr/>
        <a:lstStyle/>
        <a:p>
          <a:endParaRPr lang="en-US"/>
        </a:p>
      </dgm:t>
    </dgm:pt>
    <dgm:pt modelId="{6440FC93-5897-434C-980B-351E7C0AFA06}" type="pres">
      <dgm:prSet presAssocID="{53A46401-9850-4500-A05D-F050A3FB8292}" presName="linear" presStyleCnt="0">
        <dgm:presLayoutVars>
          <dgm:animLvl val="lvl"/>
          <dgm:resizeHandles val="exact"/>
        </dgm:presLayoutVars>
      </dgm:prSet>
      <dgm:spPr/>
    </dgm:pt>
    <dgm:pt modelId="{5D08352D-D3C2-4348-A229-4EC375B58024}" type="pres">
      <dgm:prSet presAssocID="{057E6E52-0E01-4CA7-8972-1874D49C4ECD}" presName="parentText" presStyleLbl="node1" presStyleIdx="0" presStyleCnt="6">
        <dgm:presLayoutVars>
          <dgm:chMax val="0"/>
          <dgm:bulletEnabled val="1"/>
        </dgm:presLayoutVars>
      </dgm:prSet>
      <dgm:spPr/>
    </dgm:pt>
    <dgm:pt modelId="{0A48B6CC-639C-46C0-8E66-089AC436EC01}" type="pres">
      <dgm:prSet presAssocID="{83CD2534-8FE9-4ABC-98D7-765593C99657}" presName="spacer" presStyleCnt="0"/>
      <dgm:spPr/>
    </dgm:pt>
    <dgm:pt modelId="{76262EEC-408D-4017-A236-4DB85C142D7E}" type="pres">
      <dgm:prSet presAssocID="{6465AF01-9B3E-486D-8CF6-9A9B381076BE}" presName="parentText" presStyleLbl="node1" presStyleIdx="1" presStyleCnt="6">
        <dgm:presLayoutVars>
          <dgm:chMax val="0"/>
          <dgm:bulletEnabled val="1"/>
        </dgm:presLayoutVars>
      </dgm:prSet>
      <dgm:spPr/>
    </dgm:pt>
    <dgm:pt modelId="{173326A2-0446-45EF-AFFC-29049D1C49C9}" type="pres">
      <dgm:prSet presAssocID="{710CEE70-B40C-4DB5-AC28-8B6B916BC5E1}" presName="spacer" presStyleCnt="0"/>
      <dgm:spPr/>
    </dgm:pt>
    <dgm:pt modelId="{15D9FB5A-DB9C-4F8E-B65B-DB54780F65A5}" type="pres">
      <dgm:prSet presAssocID="{733C3893-2FA3-46BD-A45A-629A119A52B6}" presName="parentText" presStyleLbl="node1" presStyleIdx="2" presStyleCnt="6">
        <dgm:presLayoutVars>
          <dgm:chMax val="0"/>
          <dgm:bulletEnabled val="1"/>
        </dgm:presLayoutVars>
      </dgm:prSet>
      <dgm:spPr/>
    </dgm:pt>
    <dgm:pt modelId="{91E86ED1-B8C1-4073-BB9B-4D5E18216F1F}" type="pres">
      <dgm:prSet presAssocID="{82B37A1B-CEC2-4DB3-B89F-28388A3D7B03}" presName="spacer" presStyleCnt="0"/>
      <dgm:spPr/>
    </dgm:pt>
    <dgm:pt modelId="{1C417E88-EEAA-41DA-8F44-1332634A4D20}" type="pres">
      <dgm:prSet presAssocID="{0090ECAF-AA3B-420F-A37E-EF4A3862DD51}" presName="parentText" presStyleLbl="node1" presStyleIdx="3" presStyleCnt="6">
        <dgm:presLayoutVars>
          <dgm:chMax val="0"/>
          <dgm:bulletEnabled val="1"/>
        </dgm:presLayoutVars>
      </dgm:prSet>
      <dgm:spPr/>
    </dgm:pt>
    <dgm:pt modelId="{15DB580C-8B76-4C02-8209-F57A58934F43}" type="pres">
      <dgm:prSet presAssocID="{44BFD5F8-22FF-4CE2-931E-4A6243B69652}" presName="spacer" presStyleCnt="0"/>
      <dgm:spPr/>
    </dgm:pt>
    <dgm:pt modelId="{314D3F79-FA5F-44C0-B153-DD9CC010B0F7}" type="pres">
      <dgm:prSet presAssocID="{6F465167-0A91-4D8E-98DE-BD5EE213B9EB}" presName="parentText" presStyleLbl="node1" presStyleIdx="4" presStyleCnt="6">
        <dgm:presLayoutVars>
          <dgm:chMax val="0"/>
          <dgm:bulletEnabled val="1"/>
        </dgm:presLayoutVars>
      </dgm:prSet>
      <dgm:spPr/>
    </dgm:pt>
    <dgm:pt modelId="{56C12AA4-8041-49C4-85A5-E9210EF92E8D}" type="pres">
      <dgm:prSet presAssocID="{EC98B2C9-8291-4C27-89B6-0C2970FC3787}" presName="spacer" presStyleCnt="0"/>
      <dgm:spPr/>
    </dgm:pt>
    <dgm:pt modelId="{8364E101-7912-4E76-A00D-78DC593E1DF5}" type="pres">
      <dgm:prSet presAssocID="{B315D386-5CFF-4A24-A023-293B5C160DD1}" presName="parentText" presStyleLbl="node1" presStyleIdx="5" presStyleCnt="6">
        <dgm:presLayoutVars>
          <dgm:chMax val="0"/>
          <dgm:bulletEnabled val="1"/>
        </dgm:presLayoutVars>
      </dgm:prSet>
      <dgm:spPr/>
    </dgm:pt>
  </dgm:ptLst>
  <dgm:cxnLst>
    <dgm:cxn modelId="{7F708701-EC82-4969-9382-F9013C237A99}" type="presOf" srcId="{6F465167-0A91-4D8E-98DE-BD5EE213B9EB}" destId="{314D3F79-FA5F-44C0-B153-DD9CC010B0F7}" srcOrd="0" destOrd="0" presId="urn:microsoft.com/office/officeart/2005/8/layout/vList2"/>
    <dgm:cxn modelId="{7885B302-F6DD-4C73-961B-7A0363B655E1}" type="presOf" srcId="{733C3893-2FA3-46BD-A45A-629A119A52B6}" destId="{15D9FB5A-DB9C-4F8E-B65B-DB54780F65A5}" srcOrd="0" destOrd="0" presId="urn:microsoft.com/office/officeart/2005/8/layout/vList2"/>
    <dgm:cxn modelId="{F2D55A1F-EB8D-438A-86E6-AE6B0F143D00}" type="presOf" srcId="{B315D386-5CFF-4A24-A023-293B5C160DD1}" destId="{8364E101-7912-4E76-A00D-78DC593E1DF5}" srcOrd="0" destOrd="0" presId="urn:microsoft.com/office/officeart/2005/8/layout/vList2"/>
    <dgm:cxn modelId="{46162F2E-4AC5-4365-8981-F5C95A64C400}" srcId="{53A46401-9850-4500-A05D-F050A3FB8292}" destId="{B315D386-5CFF-4A24-A023-293B5C160DD1}" srcOrd="5" destOrd="0" parTransId="{5374295D-9100-4163-9ADF-B73730F38816}" sibTransId="{578069E4-148B-4658-B651-684BD06B62E1}"/>
    <dgm:cxn modelId="{14743E2F-546F-4C3F-A282-3ED57995FC31}" type="presOf" srcId="{53A46401-9850-4500-A05D-F050A3FB8292}" destId="{6440FC93-5897-434C-980B-351E7C0AFA06}" srcOrd="0" destOrd="0" presId="urn:microsoft.com/office/officeart/2005/8/layout/vList2"/>
    <dgm:cxn modelId="{FC22D741-2E1D-4719-BC42-656808957B83}" srcId="{53A46401-9850-4500-A05D-F050A3FB8292}" destId="{733C3893-2FA3-46BD-A45A-629A119A52B6}" srcOrd="2" destOrd="0" parTransId="{CCC1D997-31E3-48C1-9858-3186759E4C92}" sibTransId="{82B37A1B-CEC2-4DB3-B89F-28388A3D7B03}"/>
    <dgm:cxn modelId="{1253A569-9BA6-4BD8-AC57-FF77DBABE92E}" type="presOf" srcId="{0090ECAF-AA3B-420F-A37E-EF4A3862DD51}" destId="{1C417E88-EEAA-41DA-8F44-1332634A4D20}" srcOrd="0" destOrd="0" presId="urn:microsoft.com/office/officeart/2005/8/layout/vList2"/>
    <dgm:cxn modelId="{F1398F8F-B4A1-4C05-A172-3401BF09CDED}" type="presOf" srcId="{6465AF01-9B3E-486D-8CF6-9A9B381076BE}" destId="{76262EEC-408D-4017-A236-4DB85C142D7E}" srcOrd="0" destOrd="0" presId="urn:microsoft.com/office/officeart/2005/8/layout/vList2"/>
    <dgm:cxn modelId="{17B0349C-8E8F-4166-A735-8C47DA2018C2}" srcId="{53A46401-9850-4500-A05D-F050A3FB8292}" destId="{057E6E52-0E01-4CA7-8972-1874D49C4ECD}" srcOrd="0" destOrd="0" parTransId="{5CE013DA-1784-4BBF-82D3-BEF847AF001F}" sibTransId="{83CD2534-8FE9-4ABC-98D7-765593C99657}"/>
    <dgm:cxn modelId="{46CD3B9D-696C-447D-B223-2B3E1F5F5213}" srcId="{53A46401-9850-4500-A05D-F050A3FB8292}" destId="{6F465167-0A91-4D8E-98DE-BD5EE213B9EB}" srcOrd="4" destOrd="0" parTransId="{A89CEBC9-8F84-4E2B-B659-BB9D128B576A}" sibTransId="{EC98B2C9-8291-4C27-89B6-0C2970FC3787}"/>
    <dgm:cxn modelId="{F350C49F-5F7F-46BD-A575-CA012A2BE8FA}" srcId="{53A46401-9850-4500-A05D-F050A3FB8292}" destId="{0090ECAF-AA3B-420F-A37E-EF4A3862DD51}" srcOrd="3" destOrd="0" parTransId="{2964381A-AC2E-46E9-AA8D-B66F26047C6B}" sibTransId="{44BFD5F8-22FF-4CE2-931E-4A6243B69652}"/>
    <dgm:cxn modelId="{7AB872A4-E1F6-496D-9940-1413F2E6923D}" type="presOf" srcId="{057E6E52-0E01-4CA7-8972-1874D49C4ECD}" destId="{5D08352D-D3C2-4348-A229-4EC375B58024}" srcOrd="0" destOrd="0" presId="urn:microsoft.com/office/officeart/2005/8/layout/vList2"/>
    <dgm:cxn modelId="{F70D73FF-31AA-4C90-A585-3B3969452C0D}" srcId="{53A46401-9850-4500-A05D-F050A3FB8292}" destId="{6465AF01-9B3E-486D-8CF6-9A9B381076BE}" srcOrd="1" destOrd="0" parTransId="{908B1E60-8ECB-4C75-B7CE-13E168C35CA0}" sibTransId="{710CEE70-B40C-4DB5-AC28-8B6B916BC5E1}"/>
    <dgm:cxn modelId="{12ECDB62-7CD1-44D7-8886-AE019EC1FB9D}" type="presParOf" srcId="{6440FC93-5897-434C-980B-351E7C0AFA06}" destId="{5D08352D-D3C2-4348-A229-4EC375B58024}" srcOrd="0" destOrd="0" presId="urn:microsoft.com/office/officeart/2005/8/layout/vList2"/>
    <dgm:cxn modelId="{60631C9E-CF80-4EF1-B5E9-8EC0C39126FD}" type="presParOf" srcId="{6440FC93-5897-434C-980B-351E7C0AFA06}" destId="{0A48B6CC-639C-46C0-8E66-089AC436EC01}" srcOrd="1" destOrd="0" presId="urn:microsoft.com/office/officeart/2005/8/layout/vList2"/>
    <dgm:cxn modelId="{9B7725F3-CC42-406B-8405-0B9D8CB59B0A}" type="presParOf" srcId="{6440FC93-5897-434C-980B-351E7C0AFA06}" destId="{76262EEC-408D-4017-A236-4DB85C142D7E}" srcOrd="2" destOrd="0" presId="urn:microsoft.com/office/officeart/2005/8/layout/vList2"/>
    <dgm:cxn modelId="{3ED806F7-D417-4084-9F08-37A2FF4C493D}" type="presParOf" srcId="{6440FC93-5897-434C-980B-351E7C0AFA06}" destId="{173326A2-0446-45EF-AFFC-29049D1C49C9}" srcOrd="3" destOrd="0" presId="urn:microsoft.com/office/officeart/2005/8/layout/vList2"/>
    <dgm:cxn modelId="{8DC58A1C-C194-4302-AE55-CE333515290B}" type="presParOf" srcId="{6440FC93-5897-434C-980B-351E7C0AFA06}" destId="{15D9FB5A-DB9C-4F8E-B65B-DB54780F65A5}" srcOrd="4" destOrd="0" presId="urn:microsoft.com/office/officeart/2005/8/layout/vList2"/>
    <dgm:cxn modelId="{C19D091C-457F-4FDF-BAD7-BBA2F43BD163}" type="presParOf" srcId="{6440FC93-5897-434C-980B-351E7C0AFA06}" destId="{91E86ED1-B8C1-4073-BB9B-4D5E18216F1F}" srcOrd="5" destOrd="0" presId="urn:microsoft.com/office/officeart/2005/8/layout/vList2"/>
    <dgm:cxn modelId="{1E6EB75C-ECF3-4BBB-8341-B5E4DD66FB01}" type="presParOf" srcId="{6440FC93-5897-434C-980B-351E7C0AFA06}" destId="{1C417E88-EEAA-41DA-8F44-1332634A4D20}" srcOrd="6" destOrd="0" presId="urn:microsoft.com/office/officeart/2005/8/layout/vList2"/>
    <dgm:cxn modelId="{A2A7BD88-5D78-4EF3-9719-A17BB4A1F1DF}" type="presParOf" srcId="{6440FC93-5897-434C-980B-351E7C0AFA06}" destId="{15DB580C-8B76-4C02-8209-F57A58934F43}" srcOrd="7" destOrd="0" presId="urn:microsoft.com/office/officeart/2005/8/layout/vList2"/>
    <dgm:cxn modelId="{04E69A11-D5CF-43AA-B300-2D923630B345}" type="presParOf" srcId="{6440FC93-5897-434C-980B-351E7C0AFA06}" destId="{314D3F79-FA5F-44C0-B153-DD9CC010B0F7}" srcOrd="8" destOrd="0" presId="urn:microsoft.com/office/officeart/2005/8/layout/vList2"/>
    <dgm:cxn modelId="{50EF63D2-8B6D-4D34-A036-18C6B725881D}" type="presParOf" srcId="{6440FC93-5897-434C-980B-351E7C0AFA06}" destId="{56C12AA4-8041-49C4-85A5-E9210EF92E8D}" srcOrd="9" destOrd="0" presId="urn:microsoft.com/office/officeart/2005/8/layout/vList2"/>
    <dgm:cxn modelId="{5BFE127B-8D8A-47F4-A25F-3494B1F3C168}" type="presParOf" srcId="{6440FC93-5897-434C-980B-351E7C0AFA06}" destId="{8364E101-7912-4E76-A00D-78DC593E1DF5}" srcOrd="1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D08352D-D3C2-4348-A229-4EC375B58024}">
      <dsp:nvSpPr>
        <dsp:cNvPr id="0" name=""/>
        <dsp:cNvSpPr/>
      </dsp:nvSpPr>
      <dsp:spPr>
        <a:xfrm>
          <a:off x="0" y="46641"/>
          <a:ext cx="10972800" cy="67158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de-CH" sz="2800" kern="1200"/>
            <a:t>Ausgangslage und Problemstellung</a:t>
          </a:r>
          <a:endParaRPr lang="en-US" sz="2800" kern="1200"/>
        </a:p>
      </dsp:txBody>
      <dsp:txXfrm>
        <a:off x="32784" y="79425"/>
        <a:ext cx="10907232" cy="606012"/>
      </dsp:txXfrm>
    </dsp:sp>
    <dsp:sp modelId="{76262EEC-408D-4017-A236-4DB85C142D7E}">
      <dsp:nvSpPr>
        <dsp:cNvPr id="0" name=""/>
        <dsp:cNvSpPr/>
      </dsp:nvSpPr>
      <dsp:spPr>
        <a:xfrm>
          <a:off x="0" y="798861"/>
          <a:ext cx="10972800" cy="67158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de-CH" sz="2800" kern="1200"/>
            <a:t>Zielsetzung und Abgrenzung</a:t>
          </a:r>
          <a:endParaRPr lang="en-US" sz="2800" kern="1200"/>
        </a:p>
      </dsp:txBody>
      <dsp:txXfrm>
        <a:off x="32784" y="831645"/>
        <a:ext cx="10907232" cy="606012"/>
      </dsp:txXfrm>
    </dsp:sp>
    <dsp:sp modelId="{15D9FB5A-DB9C-4F8E-B65B-DB54780F65A5}">
      <dsp:nvSpPr>
        <dsp:cNvPr id="0" name=""/>
        <dsp:cNvSpPr/>
      </dsp:nvSpPr>
      <dsp:spPr>
        <a:xfrm>
          <a:off x="0" y="1551081"/>
          <a:ext cx="10972800" cy="67158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de-CH" sz="2800" kern="1200"/>
            <a:t>Gesamtarchitektur</a:t>
          </a:r>
          <a:endParaRPr lang="en-US" sz="2800" kern="1200"/>
        </a:p>
      </dsp:txBody>
      <dsp:txXfrm>
        <a:off x="32784" y="1583865"/>
        <a:ext cx="10907232" cy="606012"/>
      </dsp:txXfrm>
    </dsp:sp>
    <dsp:sp modelId="{1C417E88-EEAA-41DA-8F44-1332634A4D20}">
      <dsp:nvSpPr>
        <dsp:cNvPr id="0" name=""/>
        <dsp:cNvSpPr/>
      </dsp:nvSpPr>
      <dsp:spPr>
        <a:xfrm>
          <a:off x="0" y="2303301"/>
          <a:ext cx="10972800" cy="67158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de-CH" sz="2800" kern="1200"/>
            <a:t>Technische Umsetzung</a:t>
          </a:r>
          <a:endParaRPr lang="en-US" sz="2800" kern="1200"/>
        </a:p>
      </dsp:txBody>
      <dsp:txXfrm>
        <a:off x="32784" y="2336085"/>
        <a:ext cx="10907232" cy="606012"/>
      </dsp:txXfrm>
    </dsp:sp>
    <dsp:sp modelId="{314D3F79-FA5F-44C0-B153-DD9CC010B0F7}">
      <dsp:nvSpPr>
        <dsp:cNvPr id="0" name=""/>
        <dsp:cNvSpPr/>
      </dsp:nvSpPr>
      <dsp:spPr>
        <a:xfrm>
          <a:off x="0" y="3055521"/>
          <a:ext cx="10972800" cy="67158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de-CH" sz="2800" kern="1200"/>
            <a:t>Herausforderung und Lösungen</a:t>
          </a:r>
          <a:endParaRPr lang="en-US" sz="2800" kern="1200"/>
        </a:p>
      </dsp:txBody>
      <dsp:txXfrm>
        <a:off x="32784" y="3088305"/>
        <a:ext cx="10907232" cy="606012"/>
      </dsp:txXfrm>
    </dsp:sp>
    <dsp:sp modelId="{8364E101-7912-4E76-A00D-78DC593E1DF5}">
      <dsp:nvSpPr>
        <dsp:cNvPr id="0" name=""/>
        <dsp:cNvSpPr/>
      </dsp:nvSpPr>
      <dsp:spPr>
        <a:xfrm>
          <a:off x="0" y="3807741"/>
          <a:ext cx="10972800" cy="67158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de-CH" sz="2800" kern="1200"/>
            <a:t>Live Demo</a:t>
          </a:r>
          <a:endParaRPr lang="en-US" sz="2800" kern="1200"/>
        </a:p>
      </dsp:txBody>
      <dsp:txXfrm>
        <a:off x="32784" y="3840525"/>
        <a:ext cx="10907232" cy="606012"/>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CH"/>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A18A044-758D-4471-B700-7F513721529D}" type="datetimeFigureOut">
              <a:rPr lang="de-CH" smtClean="0"/>
              <a:t>21.01.2026</a:t>
            </a:fld>
            <a:endParaRPr lang="de-CH"/>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CH"/>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CH"/>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CH"/>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94636FC-D4C8-486B-AAD3-E87E2B2CBD76}" type="slidenum">
              <a:rPr lang="de-CH" smtClean="0"/>
              <a:t>‹Nr.›</a:t>
            </a:fld>
            <a:endParaRPr lang="de-CH"/>
          </a:p>
        </p:txBody>
      </p:sp>
    </p:spTree>
    <p:extLst>
      <p:ext uri="{BB962C8B-B14F-4D97-AF65-F5344CB8AC3E}">
        <p14:creationId xmlns:p14="http://schemas.microsoft.com/office/powerpoint/2010/main" val="13868239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Nicolas: Viele bestehende .</a:t>
            </a:r>
            <a:r>
              <a:rPr lang="de-DE" dirty="0" err="1"/>
              <a:t>io</a:t>
            </a:r>
            <a:r>
              <a:rPr lang="de-DE" dirty="0"/>
              <a:t>-Games sind technisch sehr einfach umgesetzt und folgen oft einem minimalistischen Architekturansatz. In vielen Fällen fehlt eine klare Trennung zwischen Client und Server, wodurch ein </a:t>
            </a:r>
            <a:r>
              <a:rPr lang="de-DE" dirty="0" err="1"/>
              <a:t>Grossteil</a:t>
            </a:r>
            <a:r>
              <a:rPr lang="de-DE" dirty="0"/>
              <a:t> der Spiellogik direkt im Browser des Spielers ausgeführt wird. Dies führt dazu, dass Spielentscheidungen nicht immer zentral kontrolliert werden können, was die Fairness negativ beeinflusst und Manipulationen begünstigt.</a:t>
            </a:r>
          </a:p>
          <a:p>
            <a:r>
              <a:rPr lang="de-DE" dirty="0"/>
              <a:t>Zusätzlich entstehen durch diese Architektur häufig Synchronisationsprobleme, insbesondere wenn mehrere Spieler gleichzeitig Aktionen ausführen. Der Spielzustand ist dann nicht bei allen Clients identisch, was sich direkt auf das Spielerlebnis auswirkt. Auch die Performance leidet, da viele einfache Lösungen nicht für eine höhere Anzahl gleichzeitiger Spieler ausgelegt sind und bei steigender Last instabil werden.</a:t>
            </a:r>
          </a:p>
          <a:p>
            <a:r>
              <a:rPr lang="de-DE" dirty="0"/>
              <a:t>Vor diesem Hintergrund entstand die Motivation, mit bomb.io ein eigenes Multiplayer-Spiel zu entwickeln, bei dem die Spiellogik bewusst zentral auf dem Server angesiedelt ist. Ziel war es, eine stabile und nachvollziehbare Architektur zu entwerfen, welche Fairness, Synchronisation und Performance besser gewährleistet und gleichzeitig als solide Grundlage für zukünftige Erweiterungen dient.</a:t>
            </a:r>
          </a:p>
          <a:p>
            <a:endParaRPr lang="de-CH" dirty="0"/>
          </a:p>
        </p:txBody>
      </p:sp>
      <p:sp>
        <p:nvSpPr>
          <p:cNvPr id="4" name="Foliennummernplatzhalter 3"/>
          <p:cNvSpPr>
            <a:spLocks noGrp="1"/>
          </p:cNvSpPr>
          <p:nvPr>
            <p:ph type="sldNum" sz="quarter" idx="5"/>
          </p:nvPr>
        </p:nvSpPr>
        <p:spPr/>
        <p:txBody>
          <a:bodyPr/>
          <a:lstStyle/>
          <a:p>
            <a:fld id="{394636FC-D4C8-486B-AAD3-E87E2B2CBD76}" type="slidenum">
              <a:rPr lang="de-CH" smtClean="0"/>
              <a:t>3</a:t>
            </a:fld>
            <a:endParaRPr lang="de-CH"/>
          </a:p>
        </p:txBody>
      </p:sp>
    </p:spTree>
    <p:extLst>
      <p:ext uri="{BB962C8B-B14F-4D97-AF65-F5344CB8AC3E}">
        <p14:creationId xmlns:p14="http://schemas.microsoft.com/office/powerpoint/2010/main" val="19457086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CH" dirty="0"/>
              <a:t>Mario:</a:t>
            </a:r>
            <a:r>
              <a:rPr lang="de-DE" dirty="0"/>
              <a:t>Ziel des Projekts war es, ein funktionierendes Multiplayer-Spiel zu entwickeln, das direkt im Browser gespielt werden kann und ohne zusätzliche Installation auskommt. Dabei lag der Fokus darauf, ein stabiles und reaktionsschnelles Spielerlebnis für mehrere gleichzeitige Nutzer zu ermöglichen.</a:t>
            </a:r>
          </a:p>
          <a:p>
            <a:r>
              <a:rPr lang="de-DE" dirty="0"/>
              <a:t>Ein zentrales Ziel bestand darin, die komplette Spiel-Logik serverseitig umzusetzen. Dadurch wird sichergestellt, dass alle Spielentscheidungen zentral getroffen werden und der Spielzustand für alle Spieler konsistent bleibt. Dies verbessert nicht nur die Fairness, sondern vereinfacht auch die Synchronisation zwischen den einzelnen Clients.</a:t>
            </a:r>
          </a:p>
          <a:p>
            <a:r>
              <a:rPr lang="de-DE" dirty="0"/>
              <a:t>Ein weiteres wichtiges Ziel war die Umsetzung einer Echtzeit-Kommunikation, sodass Aktionen eines Spielers unmittelbar auf die anderen Spieler übertragen werden. Dies ist insbesondere für ein Multiplayer-Spiel entscheidend, um ein flüssiges und glaubwürdiges Gameplay zu ermöglichen.</a:t>
            </a:r>
          </a:p>
          <a:p>
            <a:r>
              <a:rPr lang="de-DE" dirty="0"/>
              <a:t>Gleichzeitig wurde das Projekt bewusst abgegrenzt. Funktionen wie ein Ranking-System, automatisches Matchmaking oder eine mobile Version wurden nicht umgesetzt, um den Projektumfang realistisch zu halten und den Fokus klar auf die Kernmechaniken des Multiplayer-Gameplays und der technischen Architektur zu legen.</a:t>
            </a:r>
          </a:p>
          <a:p>
            <a:endParaRPr lang="de-CH" dirty="0"/>
          </a:p>
        </p:txBody>
      </p:sp>
      <p:sp>
        <p:nvSpPr>
          <p:cNvPr id="4" name="Foliennummernplatzhalter 3"/>
          <p:cNvSpPr>
            <a:spLocks noGrp="1"/>
          </p:cNvSpPr>
          <p:nvPr>
            <p:ph type="sldNum" sz="quarter" idx="5"/>
          </p:nvPr>
        </p:nvSpPr>
        <p:spPr/>
        <p:txBody>
          <a:bodyPr/>
          <a:lstStyle/>
          <a:p>
            <a:fld id="{394636FC-D4C8-486B-AAD3-E87E2B2CBD76}" type="slidenum">
              <a:rPr lang="de-CH" smtClean="0"/>
              <a:t>4</a:t>
            </a:fld>
            <a:endParaRPr lang="de-CH"/>
          </a:p>
        </p:txBody>
      </p:sp>
    </p:spTree>
    <p:extLst>
      <p:ext uri="{BB962C8B-B14F-4D97-AF65-F5344CB8AC3E}">
        <p14:creationId xmlns:p14="http://schemas.microsoft.com/office/powerpoint/2010/main" val="5757317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CH" dirty="0"/>
              <a:t>Loic:</a:t>
            </a:r>
            <a:r>
              <a:rPr lang="de-DE" dirty="0"/>
              <a:t>Die Architektur von bomb.io ist klar in mehrere Komponenten unterteilt. Der Browser-Client ist </a:t>
            </a:r>
            <a:r>
              <a:rPr lang="de-DE" dirty="0" err="1"/>
              <a:t>ausschliesslich</a:t>
            </a:r>
            <a:r>
              <a:rPr lang="de-DE" dirty="0"/>
              <a:t> für die Darstellung des Spiels sowie für die Erfassung der Benutzereingaben zuständig. Dazu gehören beispielsweise Bewegungen des Spielers oder das Platzieren von Bomben. Der Client trifft dabei keine spielentscheidenden Entscheidungen, sondern leitet die Eingaben lediglich an den Server weiter.</a:t>
            </a:r>
          </a:p>
          <a:p>
            <a:r>
              <a:rPr lang="de-DE" dirty="0"/>
              <a:t>Das Backend fungiert als zentrale Instanz für die gesamte Spiel-Logik. Sämtliche Berechnungen, wie Kollisionen, Explosionen oder Zustandsänderungen im Spiel, werden serverseitig durchgeführt. Dadurch wird sichergestellt, dass alle Spieler denselben Spielzustand sehen und keine widersprüchlichen Zustände entstehen.</a:t>
            </a:r>
          </a:p>
          <a:p>
            <a:r>
              <a:rPr lang="de-DE" dirty="0"/>
              <a:t>Die Kommunikation zwischen Client und Server erfolgt in Echtzeit, sodass Aktionen eines Spielers unmittelbar verarbeitet und an alle verbundenen Clients weitergegeben werden können. Dies ist entscheidend für ein flüssiges Multiplayer-Erlebnis.</a:t>
            </a:r>
          </a:p>
          <a:p>
            <a:r>
              <a:rPr lang="de-DE" dirty="0"/>
              <a:t>Der Server ist dabei bewusst als autoritative Instanz ausgelegt. Das bedeutet, dass der Server jederzeit die alleinige Kontrolle über den Spielzustand besitzt und entscheidet, welche Aktionen gültig sind. Diese Architektur erhöht die Fairness, reduziert Manipulationsmöglichkeiten und sorgt für eine konsistente Synchronisation zwischen allen Spielern.</a:t>
            </a:r>
          </a:p>
          <a:p>
            <a:endParaRPr lang="de-CH" dirty="0"/>
          </a:p>
        </p:txBody>
      </p:sp>
      <p:sp>
        <p:nvSpPr>
          <p:cNvPr id="4" name="Foliennummernplatzhalter 3"/>
          <p:cNvSpPr>
            <a:spLocks noGrp="1"/>
          </p:cNvSpPr>
          <p:nvPr>
            <p:ph type="sldNum" sz="quarter" idx="5"/>
          </p:nvPr>
        </p:nvSpPr>
        <p:spPr/>
        <p:txBody>
          <a:bodyPr/>
          <a:lstStyle/>
          <a:p>
            <a:fld id="{394636FC-D4C8-486B-AAD3-E87E2B2CBD76}" type="slidenum">
              <a:rPr lang="de-CH" smtClean="0"/>
              <a:t>5</a:t>
            </a:fld>
            <a:endParaRPr lang="de-CH"/>
          </a:p>
        </p:txBody>
      </p:sp>
    </p:spTree>
    <p:extLst>
      <p:ext uri="{BB962C8B-B14F-4D97-AF65-F5344CB8AC3E}">
        <p14:creationId xmlns:p14="http://schemas.microsoft.com/office/powerpoint/2010/main" val="5623213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CH" dirty="0"/>
              <a:t>Nicolas:</a:t>
            </a:r>
            <a:r>
              <a:rPr lang="de-DE" dirty="0"/>
              <a:t>Für die technische Umsetzung wurde bewusst ein browserbasierter Client gewählt, um eine möglichst einfache Zugänglichkeit zu gewährleisten. Spieler können das Spiel direkt im Browser starten, ohne zusätzliche Software installieren zu müssen. Dies senkt die Einstiegshürde und ermöglicht eine schnelle Teilnahme am Spiel.</a:t>
            </a:r>
          </a:p>
          <a:p>
            <a:r>
              <a:rPr lang="de-DE" dirty="0"/>
              <a:t>Die Berechnung sämtlicher Spielereignisse, wie Bewegungen, Kollisionen oder Explosionen, erfolgt </a:t>
            </a:r>
            <a:r>
              <a:rPr lang="de-DE" dirty="0" err="1"/>
              <a:t>ausschliesslich</a:t>
            </a:r>
            <a:r>
              <a:rPr lang="de-DE" dirty="0"/>
              <a:t> auf dem Server. Dadurch wird verhindert, dass Clients eigenständig spielrelevante Entscheidungen treffen, was sowohl die Fairness als auch die Konsistenz des Spielzustands verbessert.</a:t>
            </a:r>
          </a:p>
          <a:p>
            <a:r>
              <a:rPr lang="de-DE" dirty="0"/>
              <a:t>Anstelle klassischer Seitenaufrufe oder periodischer Abfragen wird eine permanente Echtzeit-Kommunikation zwischen Client und Server eingesetzt. Dadurch können Spielereignisse unmittelbar verarbeitet und an alle beteiligten Spieler weitergeleitet werden, was für ein flüssiges und reaktionsschnelles Gameplay essenziell ist.</a:t>
            </a:r>
          </a:p>
          <a:p>
            <a:r>
              <a:rPr lang="de-DE" dirty="0"/>
              <a:t>Insgesamt folgt die Umsetzung einer klaren Trennung zwischen Darstellung und Logik. Der Client ist für die visuelle Darstellung und die Benutzereingaben zuständig, während die gesamte Spiellogik zentral auf dem Server liegt. Diese Trennung erhöht die Wartbarkeit des Systems und erleichtert zukünftige Erweiterungen oder Optimierungen.</a:t>
            </a:r>
          </a:p>
          <a:p>
            <a:endParaRPr lang="de-CH" dirty="0"/>
          </a:p>
        </p:txBody>
      </p:sp>
      <p:sp>
        <p:nvSpPr>
          <p:cNvPr id="4" name="Foliennummernplatzhalter 3"/>
          <p:cNvSpPr>
            <a:spLocks noGrp="1"/>
          </p:cNvSpPr>
          <p:nvPr>
            <p:ph type="sldNum" sz="quarter" idx="5"/>
          </p:nvPr>
        </p:nvSpPr>
        <p:spPr/>
        <p:txBody>
          <a:bodyPr/>
          <a:lstStyle/>
          <a:p>
            <a:fld id="{394636FC-D4C8-486B-AAD3-E87E2B2CBD76}" type="slidenum">
              <a:rPr lang="de-CH" smtClean="0"/>
              <a:t>6</a:t>
            </a:fld>
            <a:endParaRPr lang="de-CH"/>
          </a:p>
        </p:txBody>
      </p:sp>
    </p:spTree>
    <p:extLst>
      <p:ext uri="{BB962C8B-B14F-4D97-AF65-F5344CB8AC3E}">
        <p14:creationId xmlns:p14="http://schemas.microsoft.com/office/powerpoint/2010/main" val="40079399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CH" dirty="0"/>
              <a:t>Mario:</a:t>
            </a:r>
            <a:r>
              <a:rPr lang="de-DE" dirty="0"/>
              <a:t>Eine der </a:t>
            </a:r>
            <a:r>
              <a:rPr lang="de-DE" dirty="0" err="1"/>
              <a:t>grössten</a:t>
            </a:r>
            <a:r>
              <a:rPr lang="de-DE" dirty="0"/>
              <a:t> Herausforderungen bei der Entwicklung von bomb.io war der Umgang mit gleichzeitigen Aktionen mehrerer Spieler. In einem Multiplayer-Spiel führen viele Spieler parallel Bewegungen aus oder platzieren Bomben, die sich gegenseitig beeinflussen. Ohne eine zentrale Kontrolle kann dies schnell zu inkonsistenten Spielzuständen führen.</a:t>
            </a:r>
          </a:p>
          <a:p>
            <a:r>
              <a:rPr lang="de-DE" dirty="0"/>
              <a:t>Eng damit verbunden ist die Synchronisation aller Clients. Jeder Spieler muss zu jedem Zeitpunkt denselben Spielzustand sehen, unabhängig von Latenzen oder der Reihenfolge der eingehenden Aktionen. Besonders bei schnellen Spielabläufen stellt dies eine technische Herausforderung dar, da Verzögerungen oder fehlerhafte Updates das Spielerlebnis deutlich verschlechtern können.</a:t>
            </a:r>
          </a:p>
          <a:p>
            <a:r>
              <a:rPr lang="de-DE" dirty="0"/>
              <a:t>Zusätzlich spielt die Performance eine zentrale Rolle, insbesondere wenn die Anzahl der gleichzeitig verbundenen Spieler steigt. Mehr Spieler bedeuten mehr Berechnungen auf dem Server sowie mehr zu übertragende Daten, was sich negativ auf die Reaktionszeit auswirken kann.</a:t>
            </a:r>
          </a:p>
          <a:p>
            <a:r>
              <a:rPr lang="de-DE" dirty="0"/>
              <a:t>Um diesen Herausforderungen zu begegnen, wurde die komplette Spiellogik serverseitig umgesetzt. Der Server verarbeitet sämtliche Spieleraktionen, berechnet die resultierenden Spielereignisse und verteilt </a:t>
            </a:r>
            <a:r>
              <a:rPr lang="de-DE" dirty="0" err="1"/>
              <a:t>anschliessend</a:t>
            </a:r>
            <a:r>
              <a:rPr lang="de-DE" dirty="0"/>
              <a:t> nur die notwendigen Zustandsänderungen an die Clients. Durch diese reduzierte und gezielte Datenübertragung kann die Performance stabil gehalten und eine konsistente Synchronisation aller Clients sichergestellt werden.</a:t>
            </a:r>
          </a:p>
          <a:p>
            <a:endParaRPr lang="de-CH" dirty="0"/>
          </a:p>
        </p:txBody>
      </p:sp>
      <p:sp>
        <p:nvSpPr>
          <p:cNvPr id="4" name="Foliennummernplatzhalter 3"/>
          <p:cNvSpPr>
            <a:spLocks noGrp="1"/>
          </p:cNvSpPr>
          <p:nvPr>
            <p:ph type="sldNum" sz="quarter" idx="5"/>
          </p:nvPr>
        </p:nvSpPr>
        <p:spPr/>
        <p:txBody>
          <a:bodyPr/>
          <a:lstStyle/>
          <a:p>
            <a:fld id="{394636FC-D4C8-486B-AAD3-E87E2B2CBD76}" type="slidenum">
              <a:rPr lang="de-CH" smtClean="0"/>
              <a:t>7</a:t>
            </a:fld>
            <a:endParaRPr lang="de-CH"/>
          </a:p>
        </p:txBody>
      </p:sp>
    </p:spTree>
    <p:extLst>
      <p:ext uri="{BB962C8B-B14F-4D97-AF65-F5344CB8AC3E}">
        <p14:creationId xmlns:p14="http://schemas.microsoft.com/office/powerpoint/2010/main" val="17297911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CH" dirty="0"/>
              <a:t>alle</a:t>
            </a:r>
          </a:p>
        </p:txBody>
      </p:sp>
      <p:sp>
        <p:nvSpPr>
          <p:cNvPr id="4" name="Foliennummernplatzhalter 3"/>
          <p:cNvSpPr>
            <a:spLocks noGrp="1"/>
          </p:cNvSpPr>
          <p:nvPr>
            <p:ph type="sldNum" sz="quarter" idx="5"/>
          </p:nvPr>
        </p:nvSpPr>
        <p:spPr/>
        <p:txBody>
          <a:bodyPr/>
          <a:lstStyle/>
          <a:p>
            <a:fld id="{394636FC-D4C8-486B-AAD3-E87E2B2CBD76}" type="slidenum">
              <a:rPr lang="de-CH" smtClean="0"/>
              <a:t>8</a:t>
            </a:fld>
            <a:endParaRPr lang="de-CH"/>
          </a:p>
        </p:txBody>
      </p:sp>
    </p:spTree>
    <p:extLst>
      <p:ext uri="{BB962C8B-B14F-4D97-AF65-F5344CB8AC3E}">
        <p14:creationId xmlns:p14="http://schemas.microsoft.com/office/powerpoint/2010/main" val="31167755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CH" dirty="0"/>
              <a:t>Loic:</a:t>
            </a:r>
            <a:r>
              <a:rPr lang="de-DE" dirty="0"/>
              <a:t>Das Ergebnis des Projekts ist ein stabil funktionierendes Multiplayer-Spiel, das direkt im Browser gespielt werden kann. Trotz der gleichzeitigen Interaktionen mehrerer Spieler bleibt das Gameplay konsistent und reaktionsschnell, was zeigt, dass die gewählte Architektur in der Praxis zuverlässig funktioniert.</a:t>
            </a:r>
          </a:p>
          <a:p>
            <a:r>
              <a:rPr lang="de-DE" dirty="0"/>
              <a:t>Durch die zentrale serverseitige Spiel-Logik werden Inkonsistenzen im Spielzustand vermieden. Alle spielrelevanten Entscheidungen werden an einem zentralen Ort getroffen, wodurch sichergestellt ist, dass alle Clients denselben Zustand sehen und widersprüchliche Darstellungen vermieden werden. Dies trägt wesentlich zur Fairness und Stabilität des Spiels bei.</a:t>
            </a:r>
          </a:p>
          <a:p>
            <a:r>
              <a:rPr lang="de-DE" dirty="0"/>
              <a:t>Das Projekt demonstriert zudem ein fundiertes Verständnis für die Entwicklung von Echtzeit-Applikationen. Insbesondere der Umgang mit Synchronisation, Latenz und parallelen Spieleraktionen zeigt, dass die grundlegenden Herausforderungen von Multiplayer-Systemen erkannt und erfolgreich umgesetzt wurden.</a:t>
            </a:r>
          </a:p>
          <a:p>
            <a:r>
              <a:rPr lang="de-DE" dirty="0"/>
              <a:t>Gleichzeitig bildet bomb.io eine solide Grundlage für zukünftige Erweiterungen. Die klare Trennung zwischen Client und Server sowie die modulare Architektur ermöglichen es, zusätzliche Funktionen oder Optimierungen schrittweise zu integrieren, ohne das bestehende System grundlegend verändern zu müssen.</a:t>
            </a:r>
          </a:p>
          <a:p>
            <a:endParaRPr lang="de-CH" dirty="0"/>
          </a:p>
        </p:txBody>
      </p:sp>
      <p:sp>
        <p:nvSpPr>
          <p:cNvPr id="4" name="Foliennummernplatzhalter 3"/>
          <p:cNvSpPr>
            <a:spLocks noGrp="1"/>
          </p:cNvSpPr>
          <p:nvPr>
            <p:ph type="sldNum" sz="quarter" idx="5"/>
          </p:nvPr>
        </p:nvSpPr>
        <p:spPr/>
        <p:txBody>
          <a:bodyPr/>
          <a:lstStyle/>
          <a:p>
            <a:fld id="{394636FC-D4C8-486B-AAD3-E87E2B2CBD76}" type="slidenum">
              <a:rPr lang="de-CH" smtClean="0"/>
              <a:t>9</a:t>
            </a:fld>
            <a:endParaRPr lang="de-CH"/>
          </a:p>
        </p:txBody>
      </p:sp>
    </p:spTree>
    <p:extLst>
      <p:ext uri="{BB962C8B-B14F-4D97-AF65-F5344CB8AC3E}">
        <p14:creationId xmlns:p14="http://schemas.microsoft.com/office/powerpoint/2010/main" val="37002015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CH" dirty="0"/>
              <a:t>Nicolas:</a:t>
            </a:r>
            <a:r>
              <a:rPr lang="de-DE" dirty="0"/>
              <a:t>Ein zentrales Verbesserungspotenzial liegt im Bereich der Performance, insbesondere auf der Serverseite. Aktuell ist die Leistungsfähigkeit des Systems teilweise durch die eingesetzte Server-Hardware begrenzt. Durch den Einsatz leistungsstärkerer Hardware könnten mehr gleichzeitige Berechnungen durchgeführt und eine höhere Anzahl an Spielern stabil unterstützt werden.</a:t>
            </a:r>
          </a:p>
          <a:p>
            <a:r>
              <a:rPr lang="de-DE" dirty="0"/>
              <a:t>Zusätzlich besteht Optimierungspotenzial in den Server-Prozessen selbst. Bestimmte Abläufe könnten effizienter gestaltet werden, um unnötige Berechnungen zu vermeiden und die vorhandenen Ressourcen besser auszunutzen. Dies würde sich direkt positiv auf die Reaktionszeiten des Spiels auswirken.</a:t>
            </a:r>
          </a:p>
          <a:p>
            <a:r>
              <a:rPr lang="de-DE" dirty="0"/>
              <a:t>Ein weiterer Ansatzpunkt ist die Reduktion der Rechenlast pro Spiel-Tick. Durch gezieltere Berechnungen und eine weitere Minimierung der zu verarbeitenden Daten pro Aktualisierungszyklus könnte die Belastung des Servers deutlich gesenkt werden, ohne das Spielerlebnis negativ zu beeinflussen.</a:t>
            </a:r>
          </a:p>
          <a:p>
            <a:r>
              <a:rPr lang="de-DE" dirty="0"/>
              <a:t>Insgesamt würde eine Kombination aus optimierter Server-Software und zusätzlichen CPU-Ressourcen eine bessere Parallelität ermöglichen. Dadurch könnten mehrere Spieleraktionen gleichzeitig effizient verarbeitet werden, was insbesondere bei steigender Spieleranzahl zu einer stabileren und performanteren Spielumgebung führen würde.</a:t>
            </a:r>
          </a:p>
          <a:p>
            <a:endParaRPr lang="de-CH" dirty="0"/>
          </a:p>
        </p:txBody>
      </p:sp>
      <p:sp>
        <p:nvSpPr>
          <p:cNvPr id="4" name="Foliennummernplatzhalter 3"/>
          <p:cNvSpPr>
            <a:spLocks noGrp="1"/>
          </p:cNvSpPr>
          <p:nvPr>
            <p:ph type="sldNum" sz="quarter" idx="5"/>
          </p:nvPr>
        </p:nvSpPr>
        <p:spPr/>
        <p:txBody>
          <a:bodyPr/>
          <a:lstStyle/>
          <a:p>
            <a:fld id="{394636FC-D4C8-486B-AAD3-E87E2B2CBD76}" type="slidenum">
              <a:rPr lang="de-CH" smtClean="0"/>
              <a:t>10</a:t>
            </a:fld>
            <a:endParaRPr lang="de-CH"/>
          </a:p>
        </p:txBody>
      </p:sp>
    </p:spTree>
    <p:extLst>
      <p:ext uri="{BB962C8B-B14F-4D97-AF65-F5344CB8AC3E}">
        <p14:creationId xmlns:p14="http://schemas.microsoft.com/office/powerpoint/2010/main" val="16301937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CH" dirty="0" err="1"/>
              <a:t>mario</a:t>
            </a:r>
            <a:r>
              <a:rPr lang="de-DE" dirty="0"/>
              <a:t>Die gewählte Architektur hat sich insgesamt als sinnvoll und funktional erwiesen, insbesondere im Hinblick auf die Trennung zwischen Client und Server sowie die zentrale Steuerung der Spiellogik. Dennoch zeigt das Projekt auch, dass die Architektur noch ausbaufähig ist und bei weiterem Wachstum oder zusätzlichen Funktionen gezielte Anpassungen notwendig wären.</a:t>
            </a:r>
          </a:p>
          <a:p>
            <a:r>
              <a:rPr lang="de-DE" dirty="0"/>
              <a:t>Die aktuelle Performance ist in erster Linie durch die eingesetzte Hardware limitiert. Unter höherer Last </a:t>
            </a:r>
            <a:r>
              <a:rPr lang="de-DE" dirty="0" err="1"/>
              <a:t>stösst</a:t>
            </a:r>
            <a:r>
              <a:rPr lang="de-DE" dirty="0"/>
              <a:t> der Server an seine Leistungsgrenzen, was deutlich macht, dass für einen produktiven Betrieb mit mehr Spielern leistungsstärkere Ressourcen oder weitere Optimierungen erforderlich wären.</a:t>
            </a:r>
          </a:p>
          <a:p>
            <a:r>
              <a:rPr lang="de-DE" dirty="0"/>
              <a:t>Der Projektumfang wurde bewusst realistisch gewählt, sodass die Kernfunktionen zuverlässig umgesetzt und getestet werden konnten. Dadurch war es möglich, den Fokus klar auf die wesentlichen Aspekte eines Multiplayer-Spiels zu legen, ohne sich in zu vielen Zusatzfunktionen zu verlieren.</a:t>
            </a:r>
          </a:p>
          <a:p>
            <a:r>
              <a:rPr lang="de-DE" dirty="0"/>
              <a:t>Insgesamt brachte das Projekt wichtige Lernerfahrungen im Bereich der Multiplayer- und Echtzeit-Entwicklung. Insbesondere der Umgang mit Synchronisation, Performance und serverseitiger Logik hat das technische Verständnis vertieft und bildet eine wertvolle Grundlage für zukünftige Projekte im Bereich verteilter Applikationen.</a:t>
            </a:r>
          </a:p>
          <a:p>
            <a:endParaRPr lang="de-CH" dirty="0"/>
          </a:p>
        </p:txBody>
      </p:sp>
      <p:sp>
        <p:nvSpPr>
          <p:cNvPr id="4" name="Foliennummernplatzhalter 3"/>
          <p:cNvSpPr>
            <a:spLocks noGrp="1"/>
          </p:cNvSpPr>
          <p:nvPr>
            <p:ph type="sldNum" sz="quarter" idx="5"/>
          </p:nvPr>
        </p:nvSpPr>
        <p:spPr/>
        <p:txBody>
          <a:bodyPr/>
          <a:lstStyle/>
          <a:p>
            <a:fld id="{394636FC-D4C8-486B-AAD3-E87E2B2CBD76}" type="slidenum">
              <a:rPr lang="de-CH" smtClean="0"/>
              <a:t>11</a:t>
            </a:fld>
            <a:endParaRPr lang="de-CH"/>
          </a:p>
        </p:txBody>
      </p:sp>
    </p:spTree>
    <p:extLst>
      <p:ext uri="{BB962C8B-B14F-4D97-AF65-F5344CB8AC3E}">
        <p14:creationId xmlns:p14="http://schemas.microsoft.com/office/powerpoint/2010/main" val="21364538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1/21/2026</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‹Nr.›</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Slide Background Fill">
            <a:extLst>
              <a:ext uri="{FF2B5EF4-FFF2-40B4-BE49-F238E27FC236}">
                <a16:creationId xmlns:a16="http://schemas.microsoft.com/office/drawing/2014/main" id="{C7D023E4-8DE1-436E-9847-ED6A4B4B04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1"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Color Cover">
            <a:extLst>
              <a:ext uri="{FF2B5EF4-FFF2-40B4-BE49-F238E27FC236}">
                <a16:creationId xmlns:a16="http://schemas.microsoft.com/office/drawing/2014/main" id="{6BE11944-ED05-4FE9-9927-06C110BB3A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1" y="0"/>
            <a:ext cx="12188949"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2" name="Group 11">
            <a:extLst>
              <a:ext uri="{FF2B5EF4-FFF2-40B4-BE49-F238E27FC236}">
                <a16:creationId xmlns:a16="http://schemas.microsoft.com/office/drawing/2014/main" id="{A2812508-238C-4BCD-BDD3-25C99C5CA23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7167"/>
            <a:ext cx="12188952" cy="3490956"/>
            <a:chOff x="651279" y="598259"/>
            <a:chExt cx="10889442" cy="5680742"/>
          </a:xfrm>
        </p:grpSpPr>
        <p:sp>
          <p:nvSpPr>
            <p:cNvPr id="13" name="Color">
              <a:extLst>
                <a:ext uri="{FF2B5EF4-FFF2-40B4-BE49-F238E27FC236}">
                  <a16:creationId xmlns:a16="http://schemas.microsoft.com/office/drawing/2014/main" id="{EA98B5EE-6906-45B1-8691-D06F06B6CF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Color">
              <a:extLst>
                <a:ext uri="{FF2B5EF4-FFF2-40B4-BE49-F238E27FC236}">
                  <a16:creationId xmlns:a16="http://schemas.microsoft.com/office/drawing/2014/main" id="{3CB4D77E-DA74-4797-88E4-C7D817D315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6" name="Group 15">
            <a:extLst>
              <a:ext uri="{FF2B5EF4-FFF2-40B4-BE49-F238E27FC236}">
                <a16:creationId xmlns:a16="http://schemas.microsoft.com/office/drawing/2014/main" id="{43F5E015-E085-4624-B431-B424144486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17" name="Freeform: Shape 16">
              <a:extLst>
                <a:ext uri="{FF2B5EF4-FFF2-40B4-BE49-F238E27FC236}">
                  <a16:creationId xmlns:a16="http://schemas.microsoft.com/office/drawing/2014/main" id="{4DDB60AE-8B9C-4BA0-93DC-F8C9EBF6D8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8" name="Freeform: Shape 17">
              <a:extLst>
                <a:ext uri="{FF2B5EF4-FFF2-40B4-BE49-F238E27FC236}">
                  <a16:creationId xmlns:a16="http://schemas.microsoft.com/office/drawing/2014/main" id="{9F247760-BE07-41A2-969E-570081E65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9" name="Freeform: Shape 18">
              <a:extLst>
                <a:ext uri="{FF2B5EF4-FFF2-40B4-BE49-F238E27FC236}">
                  <a16:creationId xmlns:a16="http://schemas.microsoft.com/office/drawing/2014/main" id="{57A70BD2-76FC-4BDD-9E64-3B93D5EF36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0" name="Freeform: Shape 19">
              <a:extLst>
                <a:ext uri="{FF2B5EF4-FFF2-40B4-BE49-F238E27FC236}">
                  <a16:creationId xmlns:a16="http://schemas.microsoft.com/office/drawing/2014/main" id="{AADD9643-5489-42CB-9762-FBAC2AAE9F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1" name="Freeform: Shape 20">
              <a:extLst>
                <a:ext uri="{FF2B5EF4-FFF2-40B4-BE49-F238E27FC236}">
                  <a16:creationId xmlns:a16="http://schemas.microsoft.com/office/drawing/2014/main" id="{09A2C16E-2745-4E3D-BECC-D66755221E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2" name="Freeform: Shape 21">
              <a:extLst>
                <a:ext uri="{FF2B5EF4-FFF2-40B4-BE49-F238E27FC236}">
                  <a16:creationId xmlns:a16="http://schemas.microsoft.com/office/drawing/2014/main" id="{52E5A063-571D-4461-9869-B3E93F6E69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3" name="Freeform: Shape 22">
              <a:extLst>
                <a:ext uri="{FF2B5EF4-FFF2-40B4-BE49-F238E27FC236}">
                  <a16:creationId xmlns:a16="http://schemas.microsoft.com/office/drawing/2014/main" id="{366019AD-E33B-4DBF-BAD3-AE36116031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Title 1"/>
          <p:cNvSpPr>
            <a:spLocks noGrp="1"/>
          </p:cNvSpPr>
          <p:nvPr>
            <p:ph type="ctrTitle"/>
          </p:nvPr>
        </p:nvSpPr>
        <p:spPr>
          <a:xfrm>
            <a:off x="789708" y="1014574"/>
            <a:ext cx="9725730" cy="2226769"/>
          </a:xfrm>
        </p:spPr>
        <p:txBody>
          <a:bodyPr anchor="ctr">
            <a:normAutofit/>
          </a:bodyPr>
          <a:lstStyle/>
          <a:p>
            <a:pPr algn="l"/>
            <a:r>
              <a:rPr lang="de-CH" sz="4800">
                <a:solidFill>
                  <a:schemeClr val="bg1"/>
                </a:solidFill>
              </a:rPr>
              <a:t>bomb.io – Browserbasiertes Multiplayer-Spiel</a:t>
            </a:r>
          </a:p>
        </p:txBody>
      </p:sp>
      <p:sp>
        <p:nvSpPr>
          <p:cNvPr id="3" name="Subtitle 2"/>
          <p:cNvSpPr>
            <a:spLocks noGrp="1"/>
          </p:cNvSpPr>
          <p:nvPr>
            <p:ph type="subTitle" idx="1"/>
          </p:nvPr>
        </p:nvSpPr>
        <p:spPr>
          <a:xfrm>
            <a:off x="789708" y="3640633"/>
            <a:ext cx="9725730" cy="2487212"/>
          </a:xfrm>
        </p:spPr>
        <p:txBody>
          <a:bodyPr anchor="ctr">
            <a:normAutofit/>
          </a:bodyPr>
          <a:lstStyle/>
          <a:p>
            <a:pPr algn="l"/>
            <a:r>
              <a:rPr lang="de-DE" dirty="0">
                <a:solidFill>
                  <a:schemeClr val="tx2"/>
                </a:solidFill>
              </a:rPr>
              <a:t>Nicolas · Loic · Mario</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DD8F331-0745-AD0E-B519-223C97F670C2}"/>
              </a:ext>
            </a:extLst>
          </p:cNvPr>
          <p:cNvSpPr>
            <a:spLocks noGrp="1"/>
          </p:cNvSpPr>
          <p:nvPr>
            <p:ph type="title"/>
          </p:nvPr>
        </p:nvSpPr>
        <p:spPr/>
        <p:txBody>
          <a:bodyPr/>
          <a:lstStyle/>
          <a:p>
            <a:r>
              <a:rPr lang="de-CH" dirty="0"/>
              <a:t>Inhalt</a:t>
            </a:r>
          </a:p>
        </p:txBody>
      </p:sp>
      <p:graphicFrame>
        <p:nvGraphicFramePr>
          <p:cNvPr id="5" name="Inhaltsplatzhalter 2">
            <a:extLst>
              <a:ext uri="{FF2B5EF4-FFF2-40B4-BE49-F238E27FC236}">
                <a16:creationId xmlns:a16="http://schemas.microsoft.com/office/drawing/2014/main" id="{563656F7-C4EA-1E42-D240-300F37792F36}"/>
              </a:ext>
            </a:extLst>
          </p:cNvPr>
          <p:cNvGraphicFramePr>
            <a:graphicFrameLocks noGrp="1"/>
          </p:cNvGraphicFramePr>
          <p:nvPr>
            <p:ph idx="1"/>
          </p:nvPr>
        </p:nvGraphicFramePr>
        <p:xfrm>
          <a:off x="609600" y="1600201"/>
          <a:ext cx="109728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3496503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Color Cover">
            <a:extLst>
              <a:ext uri="{FF2B5EF4-FFF2-40B4-BE49-F238E27FC236}">
                <a16:creationId xmlns:a16="http://schemas.microsoft.com/office/drawing/2014/main" id="{815925C2-A704-4D47-B1C1-3FCA52512E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Color Cover">
            <a:extLst>
              <a:ext uri="{FF2B5EF4-FFF2-40B4-BE49-F238E27FC236}">
                <a16:creationId xmlns:a16="http://schemas.microsoft.com/office/drawing/2014/main" id="{01D4315C-C23C-4FD3-98DF-08C29E2292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9" name="Group 11">
            <a:extLst>
              <a:ext uri="{FF2B5EF4-FFF2-40B4-BE49-F238E27FC236}">
                <a16:creationId xmlns:a16="http://schemas.microsoft.com/office/drawing/2014/main" id="{5E6B47BC-43FD-4C91-8BFF-B41B99A8A39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6064235" cy="6858000"/>
            <a:chOff x="651279" y="598259"/>
            <a:chExt cx="10889442" cy="5680742"/>
          </a:xfrm>
        </p:grpSpPr>
        <p:sp>
          <p:nvSpPr>
            <p:cNvPr id="13" name="Color">
              <a:extLst>
                <a:ext uri="{FF2B5EF4-FFF2-40B4-BE49-F238E27FC236}">
                  <a16:creationId xmlns:a16="http://schemas.microsoft.com/office/drawing/2014/main" id="{13038185-AC3C-4595-945F-25311424C5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Color">
              <a:extLst>
                <a:ext uri="{FF2B5EF4-FFF2-40B4-BE49-F238E27FC236}">
                  <a16:creationId xmlns:a16="http://schemas.microsoft.com/office/drawing/2014/main" id="{75D51AA0-C095-4650-A361-B294320BFE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31" name="Group 15">
            <a:extLst>
              <a:ext uri="{FF2B5EF4-FFF2-40B4-BE49-F238E27FC236}">
                <a16:creationId xmlns:a16="http://schemas.microsoft.com/office/drawing/2014/main" id="{43F5E015-E085-4624-B431-B424144486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17" name="Freeform: Shape 16">
              <a:extLst>
                <a:ext uri="{FF2B5EF4-FFF2-40B4-BE49-F238E27FC236}">
                  <a16:creationId xmlns:a16="http://schemas.microsoft.com/office/drawing/2014/main" id="{4DDB60AE-8B9C-4BA0-93DC-F8C9EBF6D8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32" name="Freeform: Shape 17">
              <a:extLst>
                <a:ext uri="{FF2B5EF4-FFF2-40B4-BE49-F238E27FC236}">
                  <a16:creationId xmlns:a16="http://schemas.microsoft.com/office/drawing/2014/main" id="{9F247760-BE07-41A2-969E-570081E65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33" name="Freeform: Shape 18">
              <a:extLst>
                <a:ext uri="{FF2B5EF4-FFF2-40B4-BE49-F238E27FC236}">
                  <a16:creationId xmlns:a16="http://schemas.microsoft.com/office/drawing/2014/main" id="{57A70BD2-76FC-4BDD-9E64-3B93D5EF36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34" name="Freeform: Shape 19">
              <a:extLst>
                <a:ext uri="{FF2B5EF4-FFF2-40B4-BE49-F238E27FC236}">
                  <a16:creationId xmlns:a16="http://schemas.microsoft.com/office/drawing/2014/main" id="{AADD9643-5489-42CB-9762-FBAC2AAE9F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35" name="Freeform: Shape 20">
              <a:extLst>
                <a:ext uri="{FF2B5EF4-FFF2-40B4-BE49-F238E27FC236}">
                  <a16:creationId xmlns:a16="http://schemas.microsoft.com/office/drawing/2014/main" id="{09A2C16E-2745-4E3D-BECC-D66755221E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36" name="Freeform: Shape 21">
              <a:extLst>
                <a:ext uri="{FF2B5EF4-FFF2-40B4-BE49-F238E27FC236}">
                  <a16:creationId xmlns:a16="http://schemas.microsoft.com/office/drawing/2014/main" id="{52E5A063-571D-4461-9869-B3E93F6E69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37" name="Freeform: Shape 22">
              <a:extLst>
                <a:ext uri="{FF2B5EF4-FFF2-40B4-BE49-F238E27FC236}">
                  <a16:creationId xmlns:a16="http://schemas.microsoft.com/office/drawing/2014/main" id="{366019AD-E33B-4DBF-BAD3-AE36116031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Title 1"/>
          <p:cNvSpPr>
            <a:spLocks noGrp="1"/>
          </p:cNvSpPr>
          <p:nvPr>
            <p:ph type="title"/>
          </p:nvPr>
        </p:nvSpPr>
        <p:spPr>
          <a:xfrm>
            <a:off x="786385" y="841248"/>
            <a:ext cx="5129600" cy="5340097"/>
          </a:xfrm>
        </p:spPr>
        <p:txBody>
          <a:bodyPr anchor="ctr">
            <a:normAutofit/>
          </a:bodyPr>
          <a:lstStyle/>
          <a:p>
            <a:pPr algn="l"/>
            <a:r>
              <a:rPr lang="de-CH" sz="4800" dirty="0">
                <a:solidFill>
                  <a:schemeClr val="bg1"/>
                </a:solidFill>
              </a:rPr>
              <a:t>Ausgangslage und Problemstellung</a:t>
            </a:r>
          </a:p>
        </p:txBody>
      </p:sp>
      <p:sp>
        <p:nvSpPr>
          <p:cNvPr id="3" name="Content Placeholder 2"/>
          <p:cNvSpPr>
            <a:spLocks noGrp="1"/>
          </p:cNvSpPr>
          <p:nvPr>
            <p:ph idx="1"/>
          </p:nvPr>
        </p:nvSpPr>
        <p:spPr>
          <a:xfrm>
            <a:off x="6464410" y="841247"/>
            <a:ext cx="4484536" cy="5340097"/>
          </a:xfrm>
        </p:spPr>
        <p:txBody>
          <a:bodyPr anchor="ctr">
            <a:normAutofit/>
          </a:bodyPr>
          <a:lstStyle/>
          <a:p>
            <a:r>
              <a:rPr lang="de-DE" sz="1800" dirty="0">
                <a:solidFill>
                  <a:schemeClr val="tx2"/>
                </a:solidFill>
              </a:rPr>
              <a:t>Viele bestehende .</a:t>
            </a:r>
            <a:r>
              <a:rPr lang="de-DE" sz="1800" dirty="0" err="1">
                <a:solidFill>
                  <a:schemeClr val="tx2"/>
                </a:solidFill>
              </a:rPr>
              <a:t>io</a:t>
            </a:r>
            <a:r>
              <a:rPr lang="de-DE" sz="1800" dirty="0">
                <a:solidFill>
                  <a:schemeClr val="tx2"/>
                </a:solidFill>
              </a:rPr>
              <a:t>-Games sind technisch sehr einfach aufgebaut</a:t>
            </a:r>
          </a:p>
          <a:p>
            <a:r>
              <a:rPr lang="de-DE" sz="1800" dirty="0">
                <a:solidFill>
                  <a:schemeClr val="tx2"/>
                </a:solidFill>
              </a:rPr>
              <a:t>Fehlende saubere Trennung zwischen Client und Server</a:t>
            </a:r>
          </a:p>
          <a:p>
            <a:r>
              <a:rPr lang="de-DE" sz="1800" dirty="0">
                <a:solidFill>
                  <a:schemeClr val="tx2"/>
                </a:solidFill>
              </a:rPr>
              <a:t>Probleme bei Fairness, Synchronisation und Performance</a:t>
            </a:r>
          </a:p>
          <a:p>
            <a:r>
              <a:rPr lang="de-DE" sz="1800" dirty="0">
                <a:solidFill>
                  <a:schemeClr val="tx2"/>
                </a:solidFill>
              </a:rPr>
              <a:t>Motivation: eigenes Multiplayer-Spiel mit stabiler Architektur</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Color Cover">
            <a:extLst>
              <a:ext uri="{FF2B5EF4-FFF2-40B4-BE49-F238E27FC236}">
                <a16:creationId xmlns:a16="http://schemas.microsoft.com/office/drawing/2014/main" id="{815925C2-A704-4D47-B1C1-3FCA52512E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Color Cover">
            <a:extLst>
              <a:ext uri="{FF2B5EF4-FFF2-40B4-BE49-F238E27FC236}">
                <a16:creationId xmlns:a16="http://schemas.microsoft.com/office/drawing/2014/main" id="{01D4315C-C23C-4FD3-98DF-08C29E2292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2" name="Group 11">
            <a:extLst>
              <a:ext uri="{FF2B5EF4-FFF2-40B4-BE49-F238E27FC236}">
                <a16:creationId xmlns:a16="http://schemas.microsoft.com/office/drawing/2014/main" id="{5E6B47BC-43FD-4C91-8BFF-B41B99A8A39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6064235" cy="6858000"/>
            <a:chOff x="651279" y="598259"/>
            <a:chExt cx="10889442" cy="5680742"/>
          </a:xfrm>
        </p:grpSpPr>
        <p:sp>
          <p:nvSpPr>
            <p:cNvPr id="13" name="Color">
              <a:extLst>
                <a:ext uri="{FF2B5EF4-FFF2-40B4-BE49-F238E27FC236}">
                  <a16:creationId xmlns:a16="http://schemas.microsoft.com/office/drawing/2014/main" id="{13038185-AC3C-4595-945F-25311424C5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Color">
              <a:extLst>
                <a:ext uri="{FF2B5EF4-FFF2-40B4-BE49-F238E27FC236}">
                  <a16:creationId xmlns:a16="http://schemas.microsoft.com/office/drawing/2014/main" id="{75D51AA0-C095-4650-A361-B294320BFE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6" name="Group 15">
            <a:extLst>
              <a:ext uri="{FF2B5EF4-FFF2-40B4-BE49-F238E27FC236}">
                <a16:creationId xmlns:a16="http://schemas.microsoft.com/office/drawing/2014/main" id="{43F5E015-E085-4624-B431-B424144486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17" name="Freeform: Shape 16">
              <a:extLst>
                <a:ext uri="{FF2B5EF4-FFF2-40B4-BE49-F238E27FC236}">
                  <a16:creationId xmlns:a16="http://schemas.microsoft.com/office/drawing/2014/main" id="{4DDB60AE-8B9C-4BA0-93DC-F8C9EBF6D8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8" name="Freeform: Shape 17">
              <a:extLst>
                <a:ext uri="{FF2B5EF4-FFF2-40B4-BE49-F238E27FC236}">
                  <a16:creationId xmlns:a16="http://schemas.microsoft.com/office/drawing/2014/main" id="{9F247760-BE07-41A2-969E-570081E65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9" name="Freeform: Shape 18">
              <a:extLst>
                <a:ext uri="{FF2B5EF4-FFF2-40B4-BE49-F238E27FC236}">
                  <a16:creationId xmlns:a16="http://schemas.microsoft.com/office/drawing/2014/main" id="{57A70BD2-76FC-4BDD-9E64-3B93D5EF36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0" name="Freeform: Shape 19">
              <a:extLst>
                <a:ext uri="{FF2B5EF4-FFF2-40B4-BE49-F238E27FC236}">
                  <a16:creationId xmlns:a16="http://schemas.microsoft.com/office/drawing/2014/main" id="{AADD9643-5489-42CB-9762-FBAC2AAE9F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1" name="Freeform: Shape 20">
              <a:extLst>
                <a:ext uri="{FF2B5EF4-FFF2-40B4-BE49-F238E27FC236}">
                  <a16:creationId xmlns:a16="http://schemas.microsoft.com/office/drawing/2014/main" id="{09A2C16E-2745-4E3D-BECC-D66755221E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2" name="Freeform: Shape 21">
              <a:extLst>
                <a:ext uri="{FF2B5EF4-FFF2-40B4-BE49-F238E27FC236}">
                  <a16:creationId xmlns:a16="http://schemas.microsoft.com/office/drawing/2014/main" id="{52E5A063-571D-4461-9869-B3E93F6E69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3" name="Freeform: Shape 22">
              <a:extLst>
                <a:ext uri="{FF2B5EF4-FFF2-40B4-BE49-F238E27FC236}">
                  <a16:creationId xmlns:a16="http://schemas.microsoft.com/office/drawing/2014/main" id="{366019AD-E33B-4DBF-BAD3-AE36116031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Title 1"/>
          <p:cNvSpPr>
            <a:spLocks noGrp="1"/>
          </p:cNvSpPr>
          <p:nvPr>
            <p:ph type="title"/>
          </p:nvPr>
        </p:nvSpPr>
        <p:spPr>
          <a:xfrm>
            <a:off x="786385" y="841248"/>
            <a:ext cx="5129600" cy="5340097"/>
          </a:xfrm>
        </p:spPr>
        <p:txBody>
          <a:bodyPr anchor="ctr">
            <a:normAutofit/>
          </a:bodyPr>
          <a:lstStyle/>
          <a:p>
            <a:pPr algn="l"/>
            <a:r>
              <a:rPr lang="de-CH" sz="4800" dirty="0">
                <a:solidFill>
                  <a:schemeClr val="bg1"/>
                </a:solidFill>
              </a:rPr>
              <a:t>Zielsetzung und Abgrenzung</a:t>
            </a:r>
          </a:p>
        </p:txBody>
      </p:sp>
      <p:sp>
        <p:nvSpPr>
          <p:cNvPr id="3" name="Content Placeholder 2"/>
          <p:cNvSpPr>
            <a:spLocks noGrp="1"/>
          </p:cNvSpPr>
          <p:nvPr>
            <p:ph idx="1"/>
          </p:nvPr>
        </p:nvSpPr>
        <p:spPr>
          <a:xfrm>
            <a:off x="6464410" y="841247"/>
            <a:ext cx="4484536" cy="5340097"/>
          </a:xfrm>
        </p:spPr>
        <p:txBody>
          <a:bodyPr anchor="ctr">
            <a:normAutofit/>
          </a:bodyPr>
          <a:lstStyle/>
          <a:p>
            <a:r>
              <a:rPr lang="de-DE" sz="1800" dirty="0">
                <a:solidFill>
                  <a:schemeClr val="tx2"/>
                </a:solidFill>
              </a:rPr>
              <a:t>Funktionierendes Multiplayer-Spiel im Browser</a:t>
            </a:r>
          </a:p>
          <a:p>
            <a:r>
              <a:rPr lang="de-DE" sz="1800" dirty="0">
                <a:solidFill>
                  <a:schemeClr val="tx2"/>
                </a:solidFill>
              </a:rPr>
              <a:t>Zentrale serverseitige Spiel-Logik</a:t>
            </a:r>
          </a:p>
          <a:p>
            <a:r>
              <a:rPr lang="de-DE" sz="1800" dirty="0">
                <a:solidFill>
                  <a:schemeClr val="tx2"/>
                </a:solidFill>
              </a:rPr>
              <a:t>Echtzeit-Reaktion zwischen mehreren Spielern</a:t>
            </a:r>
          </a:p>
          <a:p>
            <a:r>
              <a:rPr lang="de-DE" sz="1800" dirty="0">
                <a:solidFill>
                  <a:schemeClr val="tx2"/>
                </a:solidFill>
              </a:rPr>
              <a:t>Abgrenzung: kein Ranking, kein Matchmaking, kein Mobile-Client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Color Cover">
            <a:extLst>
              <a:ext uri="{FF2B5EF4-FFF2-40B4-BE49-F238E27FC236}">
                <a16:creationId xmlns:a16="http://schemas.microsoft.com/office/drawing/2014/main" id="{815925C2-A704-4D47-B1C1-3FCA52512E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Color Cover">
            <a:extLst>
              <a:ext uri="{FF2B5EF4-FFF2-40B4-BE49-F238E27FC236}">
                <a16:creationId xmlns:a16="http://schemas.microsoft.com/office/drawing/2014/main" id="{01D4315C-C23C-4FD3-98DF-08C29E2292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2" name="Group 11">
            <a:extLst>
              <a:ext uri="{FF2B5EF4-FFF2-40B4-BE49-F238E27FC236}">
                <a16:creationId xmlns:a16="http://schemas.microsoft.com/office/drawing/2014/main" id="{5E6B47BC-43FD-4C91-8BFF-B41B99A8A39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6064235" cy="6858000"/>
            <a:chOff x="651279" y="598259"/>
            <a:chExt cx="10889442" cy="5680742"/>
          </a:xfrm>
        </p:grpSpPr>
        <p:sp>
          <p:nvSpPr>
            <p:cNvPr id="13" name="Color">
              <a:extLst>
                <a:ext uri="{FF2B5EF4-FFF2-40B4-BE49-F238E27FC236}">
                  <a16:creationId xmlns:a16="http://schemas.microsoft.com/office/drawing/2014/main" id="{13038185-AC3C-4595-945F-25311424C5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Color">
              <a:extLst>
                <a:ext uri="{FF2B5EF4-FFF2-40B4-BE49-F238E27FC236}">
                  <a16:creationId xmlns:a16="http://schemas.microsoft.com/office/drawing/2014/main" id="{75D51AA0-C095-4650-A361-B294320BFE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6" name="Group 15">
            <a:extLst>
              <a:ext uri="{FF2B5EF4-FFF2-40B4-BE49-F238E27FC236}">
                <a16:creationId xmlns:a16="http://schemas.microsoft.com/office/drawing/2014/main" id="{43F5E015-E085-4624-B431-B424144486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17" name="Freeform: Shape 16">
              <a:extLst>
                <a:ext uri="{FF2B5EF4-FFF2-40B4-BE49-F238E27FC236}">
                  <a16:creationId xmlns:a16="http://schemas.microsoft.com/office/drawing/2014/main" id="{4DDB60AE-8B9C-4BA0-93DC-F8C9EBF6D8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8" name="Freeform: Shape 17">
              <a:extLst>
                <a:ext uri="{FF2B5EF4-FFF2-40B4-BE49-F238E27FC236}">
                  <a16:creationId xmlns:a16="http://schemas.microsoft.com/office/drawing/2014/main" id="{9F247760-BE07-41A2-969E-570081E65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9" name="Freeform: Shape 18">
              <a:extLst>
                <a:ext uri="{FF2B5EF4-FFF2-40B4-BE49-F238E27FC236}">
                  <a16:creationId xmlns:a16="http://schemas.microsoft.com/office/drawing/2014/main" id="{57A70BD2-76FC-4BDD-9E64-3B93D5EF36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0" name="Freeform: Shape 19">
              <a:extLst>
                <a:ext uri="{FF2B5EF4-FFF2-40B4-BE49-F238E27FC236}">
                  <a16:creationId xmlns:a16="http://schemas.microsoft.com/office/drawing/2014/main" id="{AADD9643-5489-42CB-9762-FBAC2AAE9F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1" name="Freeform: Shape 20">
              <a:extLst>
                <a:ext uri="{FF2B5EF4-FFF2-40B4-BE49-F238E27FC236}">
                  <a16:creationId xmlns:a16="http://schemas.microsoft.com/office/drawing/2014/main" id="{09A2C16E-2745-4E3D-BECC-D66755221E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2" name="Freeform: Shape 21">
              <a:extLst>
                <a:ext uri="{FF2B5EF4-FFF2-40B4-BE49-F238E27FC236}">
                  <a16:creationId xmlns:a16="http://schemas.microsoft.com/office/drawing/2014/main" id="{52E5A063-571D-4461-9869-B3E93F6E69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3" name="Freeform: Shape 22">
              <a:extLst>
                <a:ext uri="{FF2B5EF4-FFF2-40B4-BE49-F238E27FC236}">
                  <a16:creationId xmlns:a16="http://schemas.microsoft.com/office/drawing/2014/main" id="{366019AD-E33B-4DBF-BAD3-AE36116031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Title 1"/>
          <p:cNvSpPr>
            <a:spLocks noGrp="1"/>
          </p:cNvSpPr>
          <p:nvPr>
            <p:ph type="title"/>
          </p:nvPr>
        </p:nvSpPr>
        <p:spPr>
          <a:xfrm>
            <a:off x="786385" y="841248"/>
            <a:ext cx="5129600" cy="5340097"/>
          </a:xfrm>
        </p:spPr>
        <p:txBody>
          <a:bodyPr anchor="ctr">
            <a:normAutofit/>
          </a:bodyPr>
          <a:lstStyle/>
          <a:p>
            <a:pPr algn="l"/>
            <a:r>
              <a:rPr lang="de-CH" sz="4800">
                <a:solidFill>
                  <a:schemeClr val="bg1"/>
                </a:solidFill>
              </a:rPr>
              <a:t>Gesamtarchitektur</a:t>
            </a:r>
          </a:p>
        </p:txBody>
      </p:sp>
      <p:sp>
        <p:nvSpPr>
          <p:cNvPr id="3" name="Content Placeholder 2"/>
          <p:cNvSpPr>
            <a:spLocks noGrp="1"/>
          </p:cNvSpPr>
          <p:nvPr>
            <p:ph idx="1"/>
          </p:nvPr>
        </p:nvSpPr>
        <p:spPr>
          <a:xfrm>
            <a:off x="6464410" y="841247"/>
            <a:ext cx="4484536" cy="5340097"/>
          </a:xfrm>
        </p:spPr>
        <p:txBody>
          <a:bodyPr anchor="ctr">
            <a:normAutofit/>
          </a:bodyPr>
          <a:lstStyle/>
          <a:p>
            <a:r>
              <a:rPr lang="de-DE" sz="1800" dirty="0">
                <a:solidFill>
                  <a:schemeClr val="tx2"/>
                </a:solidFill>
              </a:rPr>
              <a:t>Browser-Client für Darstellung und Eingaben</a:t>
            </a:r>
          </a:p>
          <a:p>
            <a:r>
              <a:rPr lang="de-DE" sz="1800" dirty="0">
                <a:solidFill>
                  <a:schemeClr val="tx2"/>
                </a:solidFill>
              </a:rPr>
              <a:t>Backend als zentrale Instanz für Spiel-Logik</a:t>
            </a:r>
          </a:p>
          <a:p>
            <a:r>
              <a:rPr lang="de-DE" sz="1800" dirty="0">
                <a:solidFill>
                  <a:schemeClr val="tx2"/>
                </a:solidFill>
              </a:rPr>
              <a:t>Echtzeit-Kommunikation zwischen Client und Server</a:t>
            </a:r>
          </a:p>
          <a:p>
            <a:r>
              <a:rPr lang="de-DE" sz="1800" dirty="0">
                <a:solidFill>
                  <a:schemeClr val="tx2"/>
                </a:solidFill>
              </a:rPr>
              <a:t>Server ist autoritativ für den Spielzustand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Color Cover">
            <a:extLst>
              <a:ext uri="{FF2B5EF4-FFF2-40B4-BE49-F238E27FC236}">
                <a16:creationId xmlns:a16="http://schemas.microsoft.com/office/drawing/2014/main" id="{815925C2-A704-4D47-B1C1-3FCA52512E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Color Cover">
            <a:extLst>
              <a:ext uri="{FF2B5EF4-FFF2-40B4-BE49-F238E27FC236}">
                <a16:creationId xmlns:a16="http://schemas.microsoft.com/office/drawing/2014/main" id="{01D4315C-C23C-4FD3-98DF-08C29E2292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2" name="Group 11">
            <a:extLst>
              <a:ext uri="{FF2B5EF4-FFF2-40B4-BE49-F238E27FC236}">
                <a16:creationId xmlns:a16="http://schemas.microsoft.com/office/drawing/2014/main" id="{5E6B47BC-43FD-4C91-8BFF-B41B99A8A39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6064235" cy="6858000"/>
            <a:chOff x="651279" y="598259"/>
            <a:chExt cx="10889442" cy="5680742"/>
          </a:xfrm>
        </p:grpSpPr>
        <p:sp>
          <p:nvSpPr>
            <p:cNvPr id="13" name="Color">
              <a:extLst>
                <a:ext uri="{FF2B5EF4-FFF2-40B4-BE49-F238E27FC236}">
                  <a16:creationId xmlns:a16="http://schemas.microsoft.com/office/drawing/2014/main" id="{13038185-AC3C-4595-945F-25311424C5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Color">
              <a:extLst>
                <a:ext uri="{FF2B5EF4-FFF2-40B4-BE49-F238E27FC236}">
                  <a16:creationId xmlns:a16="http://schemas.microsoft.com/office/drawing/2014/main" id="{75D51AA0-C095-4650-A361-B294320BFE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6" name="Group 15">
            <a:extLst>
              <a:ext uri="{FF2B5EF4-FFF2-40B4-BE49-F238E27FC236}">
                <a16:creationId xmlns:a16="http://schemas.microsoft.com/office/drawing/2014/main" id="{43F5E015-E085-4624-B431-B424144486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17" name="Freeform: Shape 16">
              <a:extLst>
                <a:ext uri="{FF2B5EF4-FFF2-40B4-BE49-F238E27FC236}">
                  <a16:creationId xmlns:a16="http://schemas.microsoft.com/office/drawing/2014/main" id="{4DDB60AE-8B9C-4BA0-93DC-F8C9EBF6D8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8" name="Freeform: Shape 17">
              <a:extLst>
                <a:ext uri="{FF2B5EF4-FFF2-40B4-BE49-F238E27FC236}">
                  <a16:creationId xmlns:a16="http://schemas.microsoft.com/office/drawing/2014/main" id="{9F247760-BE07-41A2-969E-570081E65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9" name="Freeform: Shape 18">
              <a:extLst>
                <a:ext uri="{FF2B5EF4-FFF2-40B4-BE49-F238E27FC236}">
                  <a16:creationId xmlns:a16="http://schemas.microsoft.com/office/drawing/2014/main" id="{57A70BD2-76FC-4BDD-9E64-3B93D5EF36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0" name="Freeform: Shape 19">
              <a:extLst>
                <a:ext uri="{FF2B5EF4-FFF2-40B4-BE49-F238E27FC236}">
                  <a16:creationId xmlns:a16="http://schemas.microsoft.com/office/drawing/2014/main" id="{AADD9643-5489-42CB-9762-FBAC2AAE9F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1" name="Freeform: Shape 20">
              <a:extLst>
                <a:ext uri="{FF2B5EF4-FFF2-40B4-BE49-F238E27FC236}">
                  <a16:creationId xmlns:a16="http://schemas.microsoft.com/office/drawing/2014/main" id="{09A2C16E-2745-4E3D-BECC-D66755221E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2" name="Freeform: Shape 21">
              <a:extLst>
                <a:ext uri="{FF2B5EF4-FFF2-40B4-BE49-F238E27FC236}">
                  <a16:creationId xmlns:a16="http://schemas.microsoft.com/office/drawing/2014/main" id="{52E5A063-571D-4461-9869-B3E93F6E69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3" name="Freeform: Shape 22">
              <a:extLst>
                <a:ext uri="{FF2B5EF4-FFF2-40B4-BE49-F238E27FC236}">
                  <a16:creationId xmlns:a16="http://schemas.microsoft.com/office/drawing/2014/main" id="{366019AD-E33B-4DBF-BAD3-AE36116031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Title 1"/>
          <p:cNvSpPr>
            <a:spLocks noGrp="1"/>
          </p:cNvSpPr>
          <p:nvPr>
            <p:ph type="title"/>
          </p:nvPr>
        </p:nvSpPr>
        <p:spPr>
          <a:xfrm>
            <a:off x="786385" y="841248"/>
            <a:ext cx="5129600" cy="5340097"/>
          </a:xfrm>
        </p:spPr>
        <p:txBody>
          <a:bodyPr anchor="ctr">
            <a:normAutofit/>
          </a:bodyPr>
          <a:lstStyle/>
          <a:p>
            <a:pPr algn="l"/>
            <a:r>
              <a:rPr lang="de-CH" sz="4800">
                <a:solidFill>
                  <a:schemeClr val="bg1"/>
                </a:solidFill>
              </a:rPr>
              <a:t>Technische Umsetzung</a:t>
            </a:r>
          </a:p>
        </p:txBody>
      </p:sp>
      <p:sp>
        <p:nvSpPr>
          <p:cNvPr id="3" name="Content Placeholder 2"/>
          <p:cNvSpPr>
            <a:spLocks noGrp="1"/>
          </p:cNvSpPr>
          <p:nvPr>
            <p:ph idx="1"/>
          </p:nvPr>
        </p:nvSpPr>
        <p:spPr>
          <a:xfrm>
            <a:off x="6464410" y="841247"/>
            <a:ext cx="4484536" cy="5340097"/>
          </a:xfrm>
        </p:spPr>
        <p:txBody>
          <a:bodyPr anchor="ctr">
            <a:normAutofit/>
          </a:bodyPr>
          <a:lstStyle/>
          <a:p>
            <a:r>
              <a:rPr lang="de-DE" sz="1800" dirty="0">
                <a:solidFill>
                  <a:schemeClr val="tx2"/>
                </a:solidFill>
              </a:rPr>
              <a:t>Browserbasierter Client für einfache Zugänglichkeit</a:t>
            </a:r>
          </a:p>
          <a:p>
            <a:r>
              <a:rPr lang="de-DE" sz="1800" dirty="0">
                <a:solidFill>
                  <a:schemeClr val="tx2"/>
                </a:solidFill>
              </a:rPr>
              <a:t>Server berechnet Spielereignisse und Kollisionen</a:t>
            </a:r>
          </a:p>
          <a:p>
            <a:r>
              <a:rPr lang="de-DE" sz="1800" dirty="0">
                <a:solidFill>
                  <a:schemeClr val="tx2"/>
                </a:solidFill>
              </a:rPr>
              <a:t>Echtzeit-Kommunikation statt klassischer Seitenaufrufe</a:t>
            </a:r>
          </a:p>
          <a:p>
            <a:r>
              <a:rPr lang="de-DE" sz="1800" dirty="0">
                <a:solidFill>
                  <a:schemeClr val="tx2"/>
                </a:solidFill>
              </a:rPr>
              <a:t>Klare Trennung zwischen Darstellung und Logik</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Color Cover">
            <a:extLst>
              <a:ext uri="{FF2B5EF4-FFF2-40B4-BE49-F238E27FC236}">
                <a16:creationId xmlns:a16="http://schemas.microsoft.com/office/drawing/2014/main" id="{815925C2-A704-4D47-B1C1-3FCA52512E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Color Cover">
            <a:extLst>
              <a:ext uri="{FF2B5EF4-FFF2-40B4-BE49-F238E27FC236}">
                <a16:creationId xmlns:a16="http://schemas.microsoft.com/office/drawing/2014/main" id="{01D4315C-C23C-4FD3-98DF-08C29E2292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2" name="Group 11">
            <a:extLst>
              <a:ext uri="{FF2B5EF4-FFF2-40B4-BE49-F238E27FC236}">
                <a16:creationId xmlns:a16="http://schemas.microsoft.com/office/drawing/2014/main" id="{5E6B47BC-43FD-4C91-8BFF-B41B99A8A39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6064235" cy="6858000"/>
            <a:chOff x="651279" y="598259"/>
            <a:chExt cx="10889442" cy="5680742"/>
          </a:xfrm>
        </p:grpSpPr>
        <p:sp>
          <p:nvSpPr>
            <p:cNvPr id="13" name="Color">
              <a:extLst>
                <a:ext uri="{FF2B5EF4-FFF2-40B4-BE49-F238E27FC236}">
                  <a16:creationId xmlns:a16="http://schemas.microsoft.com/office/drawing/2014/main" id="{13038185-AC3C-4595-945F-25311424C5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Color">
              <a:extLst>
                <a:ext uri="{FF2B5EF4-FFF2-40B4-BE49-F238E27FC236}">
                  <a16:creationId xmlns:a16="http://schemas.microsoft.com/office/drawing/2014/main" id="{75D51AA0-C095-4650-A361-B294320BFE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6" name="Group 15">
            <a:extLst>
              <a:ext uri="{FF2B5EF4-FFF2-40B4-BE49-F238E27FC236}">
                <a16:creationId xmlns:a16="http://schemas.microsoft.com/office/drawing/2014/main" id="{43F5E015-E085-4624-B431-B424144486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17" name="Freeform: Shape 16">
              <a:extLst>
                <a:ext uri="{FF2B5EF4-FFF2-40B4-BE49-F238E27FC236}">
                  <a16:creationId xmlns:a16="http://schemas.microsoft.com/office/drawing/2014/main" id="{4DDB60AE-8B9C-4BA0-93DC-F8C9EBF6D8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8" name="Freeform: Shape 17">
              <a:extLst>
                <a:ext uri="{FF2B5EF4-FFF2-40B4-BE49-F238E27FC236}">
                  <a16:creationId xmlns:a16="http://schemas.microsoft.com/office/drawing/2014/main" id="{9F247760-BE07-41A2-969E-570081E65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9" name="Freeform: Shape 18">
              <a:extLst>
                <a:ext uri="{FF2B5EF4-FFF2-40B4-BE49-F238E27FC236}">
                  <a16:creationId xmlns:a16="http://schemas.microsoft.com/office/drawing/2014/main" id="{57A70BD2-76FC-4BDD-9E64-3B93D5EF36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0" name="Freeform: Shape 19">
              <a:extLst>
                <a:ext uri="{FF2B5EF4-FFF2-40B4-BE49-F238E27FC236}">
                  <a16:creationId xmlns:a16="http://schemas.microsoft.com/office/drawing/2014/main" id="{AADD9643-5489-42CB-9762-FBAC2AAE9F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1" name="Freeform: Shape 20">
              <a:extLst>
                <a:ext uri="{FF2B5EF4-FFF2-40B4-BE49-F238E27FC236}">
                  <a16:creationId xmlns:a16="http://schemas.microsoft.com/office/drawing/2014/main" id="{09A2C16E-2745-4E3D-BECC-D66755221E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2" name="Freeform: Shape 21">
              <a:extLst>
                <a:ext uri="{FF2B5EF4-FFF2-40B4-BE49-F238E27FC236}">
                  <a16:creationId xmlns:a16="http://schemas.microsoft.com/office/drawing/2014/main" id="{52E5A063-571D-4461-9869-B3E93F6E69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3" name="Freeform: Shape 22">
              <a:extLst>
                <a:ext uri="{FF2B5EF4-FFF2-40B4-BE49-F238E27FC236}">
                  <a16:creationId xmlns:a16="http://schemas.microsoft.com/office/drawing/2014/main" id="{366019AD-E33B-4DBF-BAD3-AE36116031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Title 1"/>
          <p:cNvSpPr>
            <a:spLocks noGrp="1"/>
          </p:cNvSpPr>
          <p:nvPr>
            <p:ph type="title"/>
          </p:nvPr>
        </p:nvSpPr>
        <p:spPr>
          <a:xfrm>
            <a:off x="786385" y="841248"/>
            <a:ext cx="5129600" cy="5340097"/>
          </a:xfrm>
        </p:spPr>
        <p:txBody>
          <a:bodyPr anchor="ctr">
            <a:normAutofit/>
          </a:bodyPr>
          <a:lstStyle/>
          <a:p>
            <a:pPr algn="l"/>
            <a:r>
              <a:rPr lang="de-CH" sz="4800" dirty="0">
                <a:solidFill>
                  <a:schemeClr val="bg1"/>
                </a:solidFill>
              </a:rPr>
              <a:t>Herausforderungen und Lösungen</a:t>
            </a:r>
          </a:p>
        </p:txBody>
      </p:sp>
      <p:sp>
        <p:nvSpPr>
          <p:cNvPr id="3" name="Content Placeholder 2"/>
          <p:cNvSpPr>
            <a:spLocks noGrp="1"/>
          </p:cNvSpPr>
          <p:nvPr>
            <p:ph idx="1"/>
          </p:nvPr>
        </p:nvSpPr>
        <p:spPr>
          <a:xfrm>
            <a:off x="6464410" y="841247"/>
            <a:ext cx="4484536" cy="5340097"/>
          </a:xfrm>
        </p:spPr>
        <p:txBody>
          <a:bodyPr anchor="ctr">
            <a:normAutofit/>
          </a:bodyPr>
          <a:lstStyle/>
          <a:p>
            <a:r>
              <a:rPr lang="de-DE" sz="1800" dirty="0">
                <a:solidFill>
                  <a:schemeClr val="tx2"/>
                </a:solidFill>
              </a:rPr>
              <a:t>Gleichzeitige Aktionen mehrerer Spieler</a:t>
            </a:r>
          </a:p>
          <a:p>
            <a:r>
              <a:rPr lang="de-DE" sz="1800" dirty="0">
                <a:solidFill>
                  <a:schemeClr val="tx2"/>
                </a:solidFill>
              </a:rPr>
              <a:t>Synchronisation aller Clients</a:t>
            </a:r>
          </a:p>
          <a:p>
            <a:r>
              <a:rPr lang="de-DE" sz="1800" dirty="0">
                <a:solidFill>
                  <a:schemeClr val="tx2"/>
                </a:solidFill>
              </a:rPr>
              <a:t>Performance bei steigender Spieleranzahl</a:t>
            </a:r>
          </a:p>
          <a:p>
            <a:r>
              <a:rPr lang="de-DE" sz="1800" dirty="0">
                <a:solidFill>
                  <a:schemeClr val="tx2"/>
                </a:solidFill>
              </a:rPr>
              <a:t>Lösung: serverseitige Berechnung und reduzierte Datenübertragung</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Color Cover">
            <a:extLst>
              <a:ext uri="{FF2B5EF4-FFF2-40B4-BE49-F238E27FC236}">
                <a16:creationId xmlns:a16="http://schemas.microsoft.com/office/drawing/2014/main" id="{815925C2-A704-4D47-B1C1-3FCA52512E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Color Cover">
            <a:extLst>
              <a:ext uri="{FF2B5EF4-FFF2-40B4-BE49-F238E27FC236}">
                <a16:creationId xmlns:a16="http://schemas.microsoft.com/office/drawing/2014/main" id="{01D4315C-C23C-4FD3-98DF-08C29E2292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2" name="Group 11">
            <a:extLst>
              <a:ext uri="{FF2B5EF4-FFF2-40B4-BE49-F238E27FC236}">
                <a16:creationId xmlns:a16="http://schemas.microsoft.com/office/drawing/2014/main" id="{5E6B47BC-43FD-4C91-8BFF-B41B99A8A39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6064235" cy="6858000"/>
            <a:chOff x="651279" y="598259"/>
            <a:chExt cx="10889442" cy="5680742"/>
          </a:xfrm>
        </p:grpSpPr>
        <p:sp>
          <p:nvSpPr>
            <p:cNvPr id="13" name="Color">
              <a:extLst>
                <a:ext uri="{FF2B5EF4-FFF2-40B4-BE49-F238E27FC236}">
                  <a16:creationId xmlns:a16="http://schemas.microsoft.com/office/drawing/2014/main" id="{13038185-AC3C-4595-945F-25311424C5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Color">
              <a:extLst>
                <a:ext uri="{FF2B5EF4-FFF2-40B4-BE49-F238E27FC236}">
                  <a16:creationId xmlns:a16="http://schemas.microsoft.com/office/drawing/2014/main" id="{75D51AA0-C095-4650-A361-B294320BFE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6" name="Group 15">
            <a:extLst>
              <a:ext uri="{FF2B5EF4-FFF2-40B4-BE49-F238E27FC236}">
                <a16:creationId xmlns:a16="http://schemas.microsoft.com/office/drawing/2014/main" id="{43F5E015-E085-4624-B431-B424144486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17" name="Freeform: Shape 16">
              <a:extLst>
                <a:ext uri="{FF2B5EF4-FFF2-40B4-BE49-F238E27FC236}">
                  <a16:creationId xmlns:a16="http://schemas.microsoft.com/office/drawing/2014/main" id="{4DDB60AE-8B9C-4BA0-93DC-F8C9EBF6D8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8" name="Freeform: Shape 17">
              <a:extLst>
                <a:ext uri="{FF2B5EF4-FFF2-40B4-BE49-F238E27FC236}">
                  <a16:creationId xmlns:a16="http://schemas.microsoft.com/office/drawing/2014/main" id="{9F247760-BE07-41A2-969E-570081E65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9" name="Freeform: Shape 18">
              <a:extLst>
                <a:ext uri="{FF2B5EF4-FFF2-40B4-BE49-F238E27FC236}">
                  <a16:creationId xmlns:a16="http://schemas.microsoft.com/office/drawing/2014/main" id="{57A70BD2-76FC-4BDD-9E64-3B93D5EF36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0" name="Freeform: Shape 19">
              <a:extLst>
                <a:ext uri="{FF2B5EF4-FFF2-40B4-BE49-F238E27FC236}">
                  <a16:creationId xmlns:a16="http://schemas.microsoft.com/office/drawing/2014/main" id="{AADD9643-5489-42CB-9762-FBAC2AAE9F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1" name="Freeform: Shape 20">
              <a:extLst>
                <a:ext uri="{FF2B5EF4-FFF2-40B4-BE49-F238E27FC236}">
                  <a16:creationId xmlns:a16="http://schemas.microsoft.com/office/drawing/2014/main" id="{09A2C16E-2745-4E3D-BECC-D66755221E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2" name="Freeform: Shape 21">
              <a:extLst>
                <a:ext uri="{FF2B5EF4-FFF2-40B4-BE49-F238E27FC236}">
                  <a16:creationId xmlns:a16="http://schemas.microsoft.com/office/drawing/2014/main" id="{52E5A063-571D-4461-9869-B3E93F6E69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3" name="Freeform: Shape 22">
              <a:extLst>
                <a:ext uri="{FF2B5EF4-FFF2-40B4-BE49-F238E27FC236}">
                  <a16:creationId xmlns:a16="http://schemas.microsoft.com/office/drawing/2014/main" id="{366019AD-E33B-4DBF-BAD3-AE36116031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Title 1"/>
          <p:cNvSpPr>
            <a:spLocks noGrp="1"/>
          </p:cNvSpPr>
          <p:nvPr>
            <p:ph type="title"/>
          </p:nvPr>
        </p:nvSpPr>
        <p:spPr>
          <a:xfrm>
            <a:off x="786385" y="841248"/>
            <a:ext cx="5129600" cy="5340097"/>
          </a:xfrm>
        </p:spPr>
        <p:txBody>
          <a:bodyPr anchor="ctr">
            <a:normAutofit/>
          </a:bodyPr>
          <a:lstStyle/>
          <a:p>
            <a:pPr algn="l"/>
            <a:r>
              <a:rPr lang="de-CH" sz="4800">
                <a:solidFill>
                  <a:schemeClr val="bg1"/>
                </a:solidFill>
              </a:rPr>
              <a:t>Live-Demonstration</a:t>
            </a:r>
          </a:p>
        </p:txBody>
      </p:sp>
      <p:sp>
        <p:nvSpPr>
          <p:cNvPr id="3" name="Content Placeholder 2"/>
          <p:cNvSpPr>
            <a:spLocks noGrp="1"/>
          </p:cNvSpPr>
          <p:nvPr>
            <p:ph idx="1"/>
          </p:nvPr>
        </p:nvSpPr>
        <p:spPr>
          <a:xfrm>
            <a:off x="6464410" y="841247"/>
            <a:ext cx="4484536" cy="5340097"/>
          </a:xfrm>
        </p:spPr>
        <p:txBody>
          <a:bodyPr anchor="ctr">
            <a:normAutofit/>
          </a:bodyPr>
          <a:lstStyle/>
          <a:p>
            <a:r>
              <a:rPr lang="de-DE" sz="1800">
                <a:solidFill>
                  <a:schemeClr val="tx2"/>
                </a:solidFill>
              </a:rPr>
              <a:t>Spiel im Browser (deployed)</a:t>
            </a:r>
          </a:p>
          <a:p>
            <a:r>
              <a:rPr lang="de-DE" sz="1800">
                <a:solidFill>
                  <a:schemeClr val="tx2"/>
                </a:solidFill>
              </a:rPr>
              <a:t>Spieler bewegen sich auf der Karte</a:t>
            </a:r>
          </a:p>
          <a:p>
            <a:r>
              <a:rPr lang="de-DE" sz="1800">
                <a:solidFill>
                  <a:schemeClr val="tx2"/>
                </a:solidFill>
              </a:rPr>
              <a:t>Bomben platzieren und Explosionen auslösen</a:t>
            </a:r>
          </a:p>
          <a:p>
            <a:r>
              <a:rPr lang="de-DE" sz="1800">
                <a:solidFill>
                  <a:schemeClr val="tx2"/>
                </a:solidFill>
              </a:rPr>
              <a:t>Reaktionen anderer Spieler in Echtzeit sichtbar</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Color Cover">
            <a:extLst>
              <a:ext uri="{FF2B5EF4-FFF2-40B4-BE49-F238E27FC236}">
                <a16:creationId xmlns:a16="http://schemas.microsoft.com/office/drawing/2014/main" id="{815925C2-A704-4D47-B1C1-3FCA52512E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Color Cover">
            <a:extLst>
              <a:ext uri="{FF2B5EF4-FFF2-40B4-BE49-F238E27FC236}">
                <a16:creationId xmlns:a16="http://schemas.microsoft.com/office/drawing/2014/main" id="{01D4315C-C23C-4FD3-98DF-08C29E2292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2" name="Group 11">
            <a:extLst>
              <a:ext uri="{FF2B5EF4-FFF2-40B4-BE49-F238E27FC236}">
                <a16:creationId xmlns:a16="http://schemas.microsoft.com/office/drawing/2014/main" id="{5E6B47BC-43FD-4C91-8BFF-B41B99A8A39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6064235" cy="6858000"/>
            <a:chOff x="651279" y="598259"/>
            <a:chExt cx="10889442" cy="5680742"/>
          </a:xfrm>
        </p:grpSpPr>
        <p:sp>
          <p:nvSpPr>
            <p:cNvPr id="13" name="Color">
              <a:extLst>
                <a:ext uri="{FF2B5EF4-FFF2-40B4-BE49-F238E27FC236}">
                  <a16:creationId xmlns:a16="http://schemas.microsoft.com/office/drawing/2014/main" id="{13038185-AC3C-4595-945F-25311424C5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Color">
              <a:extLst>
                <a:ext uri="{FF2B5EF4-FFF2-40B4-BE49-F238E27FC236}">
                  <a16:creationId xmlns:a16="http://schemas.microsoft.com/office/drawing/2014/main" id="{75D51AA0-C095-4650-A361-B294320BFE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6" name="Group 15">
            <a:extLst>
              <a:ext uri="{FF2B5EF4-FFF2-40B4-BE49-F238E27FC236}">
                <a16:creationId xmlns:a16="http://schemas.microsoft.com/office/drawing/2014/main" id="{43F5E015-E085-4624-B431-B424144486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17" name="Freeform: Shape 16">
              <a:extLst>
                <a:ext uri="{FF2B5EF4-FFF2-40B4-BE49-F238E27FC236}">
                  <a16:creationId xmlns:a16="http://schemas.microsoft.com/office/drawing/2014/main" id="{4DDB60AE-8B9C-4BA0-93DC-F8C9EBF6D8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8" name="Freeform: Shape 17">
              <a:extLst>
                <a:ext uri="{FF2B5EF4-FFF2-40B4-BE49-F238E27FC236}">
                  <a16:creationId xmlns:a16="http://schemas.microsoft.com/office/drawing/2014/main" id="{9F247760-BE07-41A2-969E-570081E65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9" name="Freeform: Shape 18">
              <a:extLst>
                <a:ext uri="{FF2B5EF4-FFF2-40B4-BE49-F238E27FC236}">
                  <a16:creationId xmlns:a16="http://schemas.microsoft.com/office/drawing/2014/main" id="{57A70BD2-76FC-4BDD-9E64-3B93D5EF36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0" name="Freeform: Shape 19">
              <a:extLst>
                <a:ext uri="{FF2B5EF4-FFF2-40B4-BE49-F238E27FC236}">
                  <a16:creationId xmlns:a16="http://schemas.microsoft.com/office/drawing/2014/main" id="{AADD9643-5489-42CB-9762-FBAC2AAE9F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1" name="Freeform: Shape 20">
              <a:extLst>
                <a:ext uri="{FF2B5EF4-FFF2-40B4-BE49-F238E27FC236}">
                  <a16:creationId xmlns:a16="http://schemas.microsoft.com/office/drawing/2014/main" id="{09A2C16E-2745-4E3D-BECC-D66755221E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2" name="Freeform: Shape 21">
              <a:extLst>
                <a:ext uri="{FF2B5EF4-FFF2-40B4-BE49-F238E27FC236}">
                  <a16:creationId xmlns:a16="http://schemas.microsoft.com/office/drawing/2014/main" id="{52E5A063-571D-4461-9869-B3E93F6E69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3" name="Freeform: Shape 22">
              <a:extLst>
                <a:ext uri="{FF2B5EF4-FFF2-40B4-BE49-F238E27FC236}">
                  <a16:creationId xmlns:a16="http://schemas.microsoft.com/office/drawing/2014/main" id="{366019AD-E33B-4DBF-BAD3-AE36116031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Title 1"/>
          <p:cNvSpPr>
            <a:spLocks noGrp="1"/>
          </p:cNvSpPr>
          <p:nvPr>
            <p:ph type="title"/>
          </p:nvPr>
        </p:nvSpPr>
        <p:spPr>
          <a:xfrm>
            <a:off x="786385" y="841248"/>
            <a:ext cx="5129600" cy="5340097"/>
          </a:xfrm>
        </p:spPr>
        <p:txBody>
          <a:bodyPr anchor="ctr">
            <a:normAutofit/>
          </a:bodyPr>
          <a:lstStyle/>
          <a:p>
            <a:pPr algn="l"/>
            <a:r>
              <a:rPr lang="de-CH" sz="4800" dirty="0">
                <a:solidFill>
                  <a:schemeClr val="bg1"/>
                </a:solidFill>
              </a:rPr>
              <a:t>Ergebnis und Nutzen</a:t>
            </a:r>
          </a:p>
        </p:txBody>
      </p:sp>
      <p:sp>
        <p:nvSpPr>
          <p:cNvPr id="3" name="Content Placeholder 2"/>
          <p:cNvSpPr>
            <a:spLocks noGrp="1"/>
          </p:cNvSpPr>
          <p:nvPr>
            <p:ph idx="1"/>
          </p:nvPr>
        </p:nvSpPr>
        <p:spPr>
          <a:xfrm>
            <a:off x="6464410" y="841247"/>
            <a:ext cx="4484536" cy="5340097"/>
          </a:xfrm>
        </p:spPr>
        <p:txBody>
          <a:bodyPr anchor="ctr">
            <a:normAutofit/>
          </a:bodyPr>
          <a:lstStyle/>
          <a:p>
            <a:r>
              <a:rPr lang="de-DE" sz="1800" dirty="0">
                <a:solidFill>
                  <a:schemeClr val="tx2"/>
                </a:solidFill>
              </a:rPr>
              <a:t>Multiplayer-Spiel funktioniert stabil im Browser</a:t>
            </a:r>
          </a:p>
          <a:p>
            <a:r>
              <a:rPr lang="de-DE" sz="1800" dirty="0">
                <a:solidFill>
                  <a:schemeClr val="tx2"/>
                </a:solidFill>
              </a:rPr>
              <a:t>Zentrale Logik verhindert Inkonsistenzen</a:t>
            </a:r>
          </a:p>
          <a:p>
            <a:r>
              <a:rPr lang="de-DE" sz="1800" dirty="0">
                <a:solidFill>
                  <a:schemeClr val="tx2"/>
                </a:solidFill>
              </a:rPr>
              <a:t>Projekt zeigt Verständnis für Echtzeit-Applikationen</a:t>
            </a:r>
          </a:p>
          <a:p>
            <a:r>
              <a:rPr lang="de-DE" sz="1800" dirty="0">
                <a:solidFill>
                  <a:schemeClr val="tx2"/>
                </a:solidFill>
              </a:rPr>
              <a:t>Gute Basis für zukünftige Erweiterungen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Color Cover">
            <a:extLst>
              <a:ext uri="{FF2B5EF4-FFF2-40B4-BE49-F238E27FC236}">
                <a16:creationId xmlns:a16="http://schemas.microsoft.com/office/drawing/2014/main" id="{815925C2-A704-4D47-B1C1-3FCA52512E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Color Cover">
            <a:extLst>
              <a:ext uri="{FF2B5EF4-FFF2-40B4-BE49-F238E27FC236}">
                <a16:creationId xmlns:a16="http://schemas.microsoft.com/office/drawing/2014/main" id="{01D4315C-C23C-4FD3-98DF-08C29E2292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2" name="Group 11">
            <a:extLst>
              <a:ext uri="{FF2B5EF4-FFF2-40B4-BE49-F238E27FC236}">
                <a16:creationId xmlns:a16="http://schemas.microsoft.com/office/drawing/2014/main" id="{5E6B47BC-43FD-4C91-8BFF-B41B99A8A39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6064235" cy="6858000"/>
            <a:chOff x="651279" y="598259"/>
            <a:chExt cx="10889442" cy="5680742"/>
          </a:xfrm>
        </p:grpSpPr>
        <p:sp>
          <p:nvSpPr>
            <p:cNvPr id="13" name="Color">
              <a:extLst>
                <a:ext uri="{FF2B5EF4-FFF2-40B4-BE49-F238E27FC236}">
                  <a16:creationId xmlns:a16="http://schemas.microsoft.com/office/drawing/2014/main" id="{13038185-AC3C-4595-945F-25311424C5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Color">
              <a:extLst>
                <a:ext uri="{FF2B5EF4-FFF2-40B4-BE49-F238E27FC236}">
                  <a16:creationId xmlns:a16="http://schemas.microsoft.com/office/drawing/2014/main" id="{75D51AA0-C095-4650-A361-B294320BFE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6" name="Group 15">
            <a:extLst>
              <a:ext uri="{FF2B5EF4-FFF2-40B4-BE49-F238E27FC236}">
                <a16:creationId xmlns:a16="http://schemas.microsoft.com/office/drawing/2014/main" id="{43F5E015-E085-4624-B431-B424144486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17" name="Freeform: Shape 16">
              <a:extLst>
                <a:ext uri="{FF2B5EF4-FFF2-40B4-BE49-F238E27FC236}">
                  <a16:creationId xmlns:a16="http://schemas.microsoft.com/office/drawing/2014/main" id="{4DDB60AE-8B9C-4BA0-93DC-F8C9EBF6D8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8" name="Freeform: Shape 17">
              <a:extLst>
                <a:ext uri="{FF2B5EF4-FFF2-40B4-BE49-F238E27FC236}">
                  <a16:creationId xmlns:a16="http://schemas.microsoft.com/office/drawing/2014/main" id="{9F247760-BE07-41A2-969E-570081E65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9" name="Freeform: Shape 18">
              <a:extLst>
                <a:ext uri="{FF2B5EF4-FFF2-40B4-BE49-F238E27FC236}">
                  <a16:creationId xmlns:a16="http://schemas.microsoft.com/office/drawing/2014/main" id="{57A70BD2-76FC-4BDD-9E64-3B93D5EF36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0" name="Freeform: Shape 19">
              <a:extLst>
                <a:ext uri="{FF2B5EF4-FFF2-40B4-BE49-F238E27FC236}">
                  <a16:creationId xmlns:a16="http://schemas.microsoft.com/office/drawing/2014/main" id="{AADD9643-5489-42CB-9762-FBAC2AAE9F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1" name="Freeform: Shape 20">
              <a:extLst>
                <a:ext uri="{FF2B5EF4-FFF2-40B4-BE49-F238E27FC236}">
                  <a16:creationId xmlns:a16="http://schemas.microsoft.com/office/drawing/2014/main" id="{09A2C16E-2745-4E3D-BECC-D66755221E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2" name="Freeform: Shape 21">
              <a:extLst>
                <a:ext uri="{FF2B5EF4-FFF2-40B4-BE49-F238E27FC236}">
                  <a16:creationId xmlns:a16="http://schemas.microsoft.com/office/drawing/2014/main" id="{52E5A063-571D-4461-9869-B3E93F6E69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3" name="Freeform: Shape 22">
              <a:extLst>
                <a:ext uri="{FF2B5EF4-FFF2-40B4-BE49-F238E27FC236}">
                  <a16:creationId xmlns:a16="http://schemas.microsoft.com/office/drawing/2014/main" id="{366019AD-E33B-4DBF-BAD3-AE36116031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Title 1"/>
          <p:cNvSpPr>
            <a:spLocks noGrp="1"/>
          </p:cNvSpPr>
          <p:nvPr>
            <p:ph type="title"/>
          </p:nvPr>
        </p:nvSpPr>
        <p:spPr>
          <a:xfrm>
            <a:off x="786385" y="841248"/>
            <a:ext cx="5129600" cy="5340097"/>
          </a:xfrm>
        </p:spPr>
        <p:txBody>
          <a:bodyPr anchor="ctr">
            <a:normAutofit/>
          </a:bodyPr>
          <a:lstStyle/>
          <a:p>
            <a:pPr algn="l"/>
            <a:r>
              <a:rPr lang="de-CH" sz="3700">
                <a:solidFill>
                  <a:schemeClr val="bg1"/>
                </a:solidFill>
              </a:rPr>
              <a:t>Verbesserungspotential &amp; Performance</a:t>
            </a:r>
          </a:p>
        </p:txBody>
      </p:sp>
      <p:sp>
        <p:nvSpPr>
          <p:cNvPr id="3" name="Content Placeholder 2"/>
          <p:cNvSpPr>
            <a:spLocks noGrp="1"/>
          </p:cNvSpPr>
          <p:nvPr>
            <p:ph idx="1"/>
          </p:nvPr>
        </p:nvSpPr>
        <p:spPr>
          <a:xfrm>
            <a:off x="6464410" y="841247"/>
            <a:ext cx="4484536" cy="5340097"/>
          </a:xfrm>
        </p:spPr>
        <p:txBody>
          <a:bodyPr anchor="ctr">
            <a:normAutofit/>
          </a:bodyPr>
          <a:lstStyle/>
          <a:p>
            <a:r>
              <a:rPr lang="de-DE" sz="1800" dirty="0">
                <a:solidFill>
                  <a:schemeClr val="tx2"/>
                </a:solidFill>
              </a:rPr>
              <a:t>Leistungsstärkere Server-Hardware einsetzen</a:t>
            </a:r>
          </a:p>
          <a:p>
            <a:r>
              <a:rPr lang="de-DE" sz="1800" dirty="0">
                <a:solidFill>
                  <a:schemeClr val="tx2"/>
                </a:solidFill>
              </a:rPr>
              <a:t>Optimierung der Server-Prozesse</a:t>
            </a:r>
          </a:p>
          <a:p>
            <a:r>
              <a:rPr lang="de-DE" sz="1800" dirty="0">
                <a:solidFill>
                  <a:schemeClr val="tx2"/>
                </a:solidFill>
              </a:rPr>
              <a:t>Reduktion der Rechenlast pro Spiel-Tick</a:t>
            </a:r>
          </a:p>
          <a:p>
            <a:r>
              <a:rPr lang="de-DE" sz="1800" dirty="0">
                <a:solidFill>
                  <a:schemeClr val="tx2"/>
                </a:solidFill>
              </a:rPr>
              <a:t>Mehr CPU-Ressourcen für bessere Parallelität notwendig</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Color Cover">
            <a:extLst>
              <a:ext uri="{FF2B5EF4-FFF2-40B4-BE49-F238E27FC236}">
                <a16:creationId xmlns:a16="http://schemas.microsoft.com/office/drawing/2014/main" id="{815925C2-A704-4D47-B1C1-3FCA52512E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Color Cover">
            <a:extLst>
              <a:ext uri="{FF2B5EF4-FFF2-40B4-BE49-F238E27FC236}">
                <a16:creationId xmlns:a16="http://schemas.microsoft.com/office/drawing/2014/main" id="{01D4315C-C23C-4FD3-98DF-08C29E2292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2" name="Group 11">
            <a:extLst>
              <a:ext uri="{FF2B5EF4-FFF2-40B4-BE49-F238E27FC236}">
                <a16:creationId xmlns:a16="http://schemas.microsoft.com/office/drawing/2014/main" id="{5E6B47BC-43FD-4C91-8BFF-B41B99A8A39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6064235" cy="6858000"/>
            <a:chOff x="651279" y="598259"/>
            <a:chExt cx="10889442" cy="5680742"/>
          </a:xfrm>
        </p:grpSpPr>
        <p:sp>
          <p:nvSpPr>
            <p:cNvPr id="13" name="Color">
              <a:extLst>
                <a:ext uri="{FF2B5EF4-FFF2-40B4-BE49-F238E27FC236}">
                  <a16:creationId xmlns:a16="http://schemas.microsoft.com/office/drawing/2014/main" id="{13038185-AC3C-4595-945F-25311424C5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Color">
              <a:extLst>
                <a:ext uri="{FF2B5EF4-FFF2-40B4-BE49-F238E27FC236}">
                  <a16:creationId xmlns:a16="http://schemas.microsoft.com/office/drawing/2014/main" id="{75D51AA0-C095-4650-A361-B294320BFE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6" name="Group 15">
            <a:extLst>
              <a:ext uri="{FF2B5EF4-FFF2-40B4-BE49-F238E27FC236}">
                <a16:creationId xmlns:a16="http://schemas.microsoft.com/office/drawing/2014/main" id="{43F5E015-E085-4624-B431-B424144486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17" name="Freeform: Shape 16">
              <a:extLst>
                <a:ext uri="{FF2B5EF4-FFF2-40B4-BE49-F238E27FC236}">
                  <a16:creationId xmlns:a16="http://schemas.microsoft.com/office/drawing/2014/main" id="{4DDB60AE-8B9C-4BA0-93DC-F8C9EBF6D8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8" name="Freeform: Shape 17">
              <a:extLst>
                <a:ext uri="{FF2B5EF4-FFF2-40B4-BE49-F238E27FC236}">
                  <a16:creationId xmlns:a16="http://schemas.microsoft.com/office/drawing/2014/main" id="{9F247760-BE07-41A2-969E-570081E65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9" name="Freeform: Shape 18">
              <a:extLst>
                <a:ext uri="{FF2B5EF4-FFF2-40B4-BE49-F238E27FC236}">
                  <a16:creationId xmlns:a16="http://schemas.microsoft.com/office/drawing/2014/main" id="{57A70BD2-76FC-4BDD-9E64-3B93D5EF36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0" name="Freeform: Shape 19">
              <a:extLst>
                <a:ext uri="{FF2B5EF4-FFF2-40B4-BE49-F238E27FC236}">
                  <a16:creationId xmlns:a16="http://schemas.microsoft.com/office/drawing/2014/main" id="{AADD9643-5489-42CB-9762-FBAC2AAE9F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1" name="Freeform: Shape 20">
              <a:extLst>
                <a:ext uri="{FF2B5EF4-FFF2-40B4-BE49-F238E27FC236}">
                  <a16:creationId xmlns:a16="http://schemas.microsoft.com/office/drawing/2014/main" id="{09A2C16E-2745-4E3D-BECC-D66755221E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2" name="Freeform: Shape 21">
              <a:extLst>
                <a:ext uri="{FF2B5EF4-FFF2-40B4-BE49-F238E27FC236}">
                  <a16:creationId xmlns:a16="http://schemas.microsoft.com/office/drawing/2014/main" id="{52E5A063-571D-4461-9869-B3E93F6E69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3" name="Freeform: Shape 22">
              <a:extLst>
                <a:ext uri="{FF2B5EF4-FFF2-40B4-BE49-F238E27FC236}">
                  <a16:creationId xmlns:a16="http://schemas.microsoft.com/office/drawing/2014/main" id="{366019AD-E33B-4DBF-BAD3-AE36116031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Title 1"/>
          <p:cNvSpPr>
            <a:spLocks noGrp="1"/>
          </p:cNvSpPr>
          <p:nvPr>
            <p:ph type="title"/>
          </p:nvPr>
        </p:nvSpPr>
        <p:spPr>
          <a:xfrm>
            <a:off x="786385" y="841248"/>
            <a:ext cx="5129600" cy="5340097"/>
          </a:xfrm>
        </p:spPr>
        <p:txBody>
          <a:bodyPr anchor="ctr">
            <a:normAutofit/>
          </a:bodyPr>
          <a:lstStyle/>
          <a:p>
            <a:pPr algn="l"/>
            <a:r>
              <a:rPr lang="de-CH" sz="4800">
                <a:solidFill>
                  <a:schemeClr val="bg1"/>
                </a:solidFill>
              </a:rPr>
              <a:t>Kritische Reflexion</a:t>
            </a:r>
          </a:p>
        </p:txBody>
      </p:sp>
      <p:sp>
        <p:nvSpPr>
          <p:cNvPr id="3" name="Content Placeholder 2"/>
          <p:cNvSpPr>
            <a:spLocks noGrp="1"/>
          </p:cNvSpPr>
          <p:nvPr>
            <p:ph idx="1"/>
          </p:nvPr>
        </p:nvSpPr>
        <p:spPr>
          <a:xfrm>
            <a:off x="6464410" y="841247"/>
            <a:ext cx="4484536" cy="5340097"/>
          </a:xfrm>
        </p:spPr>
        <p:txBody>
          <a:bodyPr anchor="ctr">
            <a:normAutofit/>
          </a:bodyPr>
          <a:lstStyle/>
          <a:p>
            <a:r>
              <a:rPr lang="de-DE" sz="1800" dirty="0">
                <a:solidFill>
                  <a:schemeClr val="tx2"/>
                </a:solidFill>
              </a:rPr>
              <a:t>Architektur sinnvoll, aber ausbaufähig</a:t>
            </a:r>
          </a:p>
          <a:p>
            <a:r>
              <a:rPr lang="de-DE" sz="1800" dirty="0">
                <a:solidFill>
                  <a:schemeClr val="tx2"/>
                </a:solidFill>
              </a:rPr>
              <a:t>Performance aktuell durch Hardware limitiert</a:t>
            </a:r>
          </a:p>
          <a:p>
            <a:r>
              <a:rPr lang="de-DE" sz="1800" dirty="0">
                <a:solidFill>
                  <a:schemeClr val="tx2"/>
                </a:solidFill>
              </a:rPr>
              <a:t>Projektumfang realistisch gewählt</a:t>
            </a:r>
          </a:p>
          <a:p>
            <a:r>
              <a:rPr lang="de-DE" sz="1800" dirty="0">
                <a:solidFill>
                  <a:schemeClr val="tx2"/>
                </a:solidFill>
              </a:rPr>
              <a:t>Wichtige Lernerfahrungen im Multiplayer-Bereich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1687</Words>
  <Application>Microsoft Office PowerPoint</Application>
  <PresentationFormat>Breitbild</PresentationFormat>
  <Paragraphs>95</Paragraphs>
  <Slides>11</Slides>
  <Notes>9</Notes>
  <HiddenSlides>0</HiddenSlides>
  <MMClips>0</MMClips>
  <ScaleCrop>false</ScaleCrop>
  <HeadingPairs>
    <vt:vector size="6" baseType="variant">
      <vt:variant>
        <vt:lpstr>Verwendete Schriftarten</vt:lpstr>
      </vt:variant>
      <vt:variant>
        <vt:i4>3</vt:i4>
      </vt:variant>
      <vt:variant>
        <vt:lpstr>Design</vt:lpstr>
      </vt:variant>
      <vt:variant>
        <vt:i4>1</vt:i4>
      </vt:variant>
      <vt:variant>
        <vt:lpstr>Folientitel</vt:lpstr>
      </vt:variant>
      <vt:variant>
        <vt:i4>11</vt:i4>
      </vt:variant>
    </vt:vector>
  </HeadingPairs>
  <TitlesOfParts>
    <vt:vector size="15" baseType="lpstr">
      <vt:lpstr>Aptos</vt:lpstr>
      <vt:lpstr>Arial</vt:lpstr>
      <vt:lpstr>Calibri</vt:lpstr>
      <vt:lpstr>Office Theme</vt:lpstr>
      <vt:lpstr>bomb.io – Browserbasiertes Multiplayer-Spiel</vt:lpstr>
      <vt:lpstr>Inhalt</vt:lpstr>
      <vt:lpstr>Ausgangslage und Problemstellung</vt:lpstr>
      <vt:lpstr>Zielsetzung und Abgrenzung</vt:lpstr>
      <vt:lpstr>Gesamtarchitektur</vt:lpstr>
      <vt:lpstr>Technische Umsetzung</vt:lpstr>
      <vt:lpstr>Herausforderungen und Lösungen</vt:lpstr>
      <vt:lpstr>Live-Demonstration</vt:lpstr>
      <vt:lpstr>Ergebnis und Nutzen</vt:lpstr>
      <vt:lpstr>Verbesserungspotential &amp; Performance</vt:lpstr>
      <vt:lpstr>Kritische Reflexion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Nicolas Ammeter</dc:creator>
  <cp:keywords/>
  <dc:description>generated using python-pptx</dc:description>
  <cp:lastModifiedBy>Nicolas Ammeter</cp:lastModifiedBy>
  <cp:revision>4</cp:revision>
  <dcterms:created xsi:type="dcterms:W3CDTF">2013-01-27T09:14:16Z</dcterms:created>
  <dcterms:modified xsi:type="dcterms:W3CDTF">2026-01-22T08:05:39Z</dcterms:modified>
  <cp:category/>
</cp:coreProperties>
</file>